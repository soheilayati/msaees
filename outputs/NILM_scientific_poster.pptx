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6488dc7d99b4d5b" Type="http://schemas.openxmlformats.org/officeDocument/2006/relationships/extended-properties" Target="docProps/app.xml"/><Relationship Id="Re30e0bb2d64d4f83" Type="http://schemas.openxmlformats.org/package/2006/relationships/metadata/core-properties" Target="docProps/core.xml"/><Relationship Id="Rf6e87cd5ba424d04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e9b1d92cef4184"/>
  </p:sldMasterIdLst>
  <p:notesMasterIdLst>
    <p:notesMasterId xmlns:r="http://schemas.openxmlformats.org/officeDocument/2006/relationships" r:id="R9042782acb914af6"/>
  </p:notesMasterIdLst>
  <p:sldIdLst>
    <p:sldId xmlns:r="http://schemas.openxmlformats.org/officeDocument/2006/relationships" id="256" r:id="R4a5ce8b4c7864a73"/>
  </p:sldIdLst>
  <p:sldSz cx="30279975" cy="42808493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3ccdfbefcda4a90" Type="http://schemas.openxmlformats.org/officeDocument/2006/relationships/theme" Target="theme/theme1.xml"/><Relationship Id="R3b31d0ad29504b89" Type="http://schemas.openxmlformats.org/officeDocument/2006/relationships/tableStyles" Target="tableStyles.xml"/><Relationship Id="R4a5ce8b4c7864a73" Type="http://schemas.openxmlformats.org/officeDocument/2006/relationships/slide" Target="slides/slide1.xml"/><Relationship Id="R60e9b1d92cef4184" Type="http://schemas.openxmlformats.org/officeDocument/2006/relationships/slideMaster" Target="slideMasters/slideMaster1.xml"/><Relationship Id="R9042782acb914af6" Type="http://schemas.openxmlformats.org/officeDocument/2006/relationships/notesMaster" Target="notesMasters/notesMaster1.xml"/><Relationship Id="Ra1d08523b19647bb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35ddb1b1dbe64b16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91efd0e6c6244474" Type="http://schemas.openxmlformats.org/officeDocument/2006/relationships/notesMaster" Target="../notesMasters/notesMaster1.xml"/><Relationship Id="Rb6d61dbf83464eb4" Type="http://schemas.openxmlformats.org/officeDocument/2006/relationships/slide" Target="../slides/slide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94da08fdbe684b02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684570c5fe384392" Type="http://schemas.openxmlformats.org/officeDocument/2006/relationships/slideLayout" Target="../slideLayouts/slideLayout1.xml"/><Relationship Id="Rbb43c61c7b174d44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4570c5fe3843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19b8610675d4b75" Type="http://schemas.openxmlformats.org/officeDocument/2006/relationships/image" Target="../media/image.jpeg"/><Relationship Id="R471f2b91fa394ae1" Type="http://schemas.openxmlformats.org/officeDocument/2006/relationships/notesSlide" Target="../notesSlides/notesSlide1.xml"/><Relationship Id="R4a9ea996921a4240" Type="http://schemas.openxmlformats.org/officeDocument/2006/relationships/image" Target="../media/image.png"/><Relationship Id="R6bb73d06781e42e1" Type="http://schemas.openxmlformats.org/officeDocument/2006/relationships/slideLayout" Target="../slideLayouts/slideLayout1.xml"/><Relationship Id="Re4fd69a53af34f48" Type="http://schemas.openxmlformats.org/officeDocument/2006/relationships/image" Target="../media/image2.png"/><Relationship Id="rId6" Type="http://schemas.openxmlformats.org/officeDocument/2006/relationships/image" Target="../media/image1.jp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999651-CFDF-4D36-9AFF-1B8EF114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-219075"/>
            <a:ext cx="90582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C0F"/>
          </a:solidFill>
          <a:ln xmlns:a="http://schemas.openxmlformats.org/drawingml/2006/main" w="0">
            <a:solidFill>
              <a:srgbClr val="C90C0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939672-3528-4BAB-AF29-750EAD28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-219075"/>
            <a:ext cx="90582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B0C"/>
          </a:solidFill>
          <a:ln xmlns:a="http://schemas.openxmlformats.org/drawingml/2006/main" w="0">
            <a:solidFill>
              <a:srgbClr val="EA5B0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543EF-55DA-4A64-AD25-60B3AEB2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11975" y="-219075"/>
            <a:ext cx="9182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2585"/>
          </a:solidFill>
          <a:ln xmlns:a="http://schemas.openxmlformats.org/drawingml/2006/main" w="0">
            <a:solidFill>
              <a:srgbClr val="B8258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07CBC-359C-4721-AF4F-88649767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42950"/>
            <a:ext cx="17621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</a:pPr>
            <a:r>
              <a:rPr sz="6450" b="1">
                <a:solidFill>
                  <a:srgbClr val="000000"/>
                </a:solidFill>
                <a:latin typeface="Aptos"/>
              </a:rPr>
              <a:t>Non-Intrusive Load Monitoring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6450" b="1">
                <a:solidFill>
                  <a:srgbClr val="000000"/>
                </a:solidFill>
                <a:latin typeface="Aptos"/>
              </a:rPr>
              <a:t>with Harmonic Feature Fusion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6450" b="1">
                <a:solidFill>
                  <a:srgbClr val="000000"/>
                </a:solidFill>
                <a:latin typeface="Aptos"/>
              </a:rPr>
              <a:t>and Live On-the-Go Learning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D4553-F409-4BF7-BAF5-20A15724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75" y="1066800"/>
            <a:ext cx="9286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5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Modeling, Simulation and Automation of Electrical Energy Systems</a:t>
            </a:r>
          </a:p>
          <a:p xmlns:a="http://schemas.openxmlformats.org/drawingml/2006/main">
            <a:pPr algn="r">
              <a:defRPr sz="35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 Koeln | Soheil Ayati, Marc Steffgen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EA4EB6-686A-4DBE-BD20-3EE5FCBC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2752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28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complete laboratory NILM pipeline: one PAC4200 meter, synthetic and measured ground truth, a 17-feature RF mix model, edge-based live recognition, and training-on-the-go for unknown devices.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5EB80-CAAF-45E6-8F2C-97E2413D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5780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00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00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Why we built it</a:t>
            </a:r>
          </a:p>
        </p:txBody>
      </p:sp>
      <p:cxnSp>
        <p:nvCxnSpPr>
          <p:cNvPr id="76" name=""/>
          <p:cNvCxnSpPr/>
          <p:nvPr/>
        </p:nvCxnSpPr>
        <p:spPr>
          <a:xfrm xmlns:a="http://schemas.openxmlformats.org/drawingml/2006/main">
            <a:off x="1485900" y="6076950"/>
            <a:ext cx="859155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C90C0F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41798C-BF5B-4ABA-95F5-25A27ADF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77000"/>
            <a:ext cx="8763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NILM estimates appliance activity from one aggregate measurement at the point of common coupling.</a:t>
            </a:r>
          </a:p>
          <a:p xmlns:a="http://schemas.openxmlformats.org/drawingml/2006/main">
            <a:pPr algn="l">
              <a:defRPr sz="26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practical challenge is overlap: several devices run at once, similar loads share the same P range, and PV can mask consumption by driving signed power toward zero.</a:t>
            </a:r>
          </a:p>
          <a:p xmlns:a="http://schemas.openxmlformats.org/drawingml/2006/main">
            <a:pPr algn="l">
              <a:defRPr sz="26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project therefore uses every measurable low-frequency signature: active/reactive power, power factor, THD, per-order harmonics and switching edges.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3E6ACC-6316-48EF-BEB9-C87DB70D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1049000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C90C0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1272D2-3BB4-4004-807A-A226FEC9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1220450"/>
            <a:ext cx="1657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Loads</a:t>
            </a:r>
          </a:p>
          <a:p xmlns:a="http://schemas.openxmlformats.org/drawingml/2006/main">
            <a:pPr algn="ctr"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+ PV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97A504-64A0-4B7E-82A2-13173CD9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1049000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EA5B0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755C43-1967-48FF-9CEA-0282595F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1220450"/>
            <a:ext cx="1657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PAC4200</a:t>
            </a:r>
          </a:p>
          <a:p xmlns:a="http://schemas.openxmlformats.org/drawingml/2006/main">
            <a:pPr algn="ctr"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 Hz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0683E1-3A5D-46E2-A0B6-674E0A7C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04900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B8258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50A150-6101-4062-9F57-DF927C84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1220450"/>
            <a:ext cx="1752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NILM</a:t>
            </a:r>
          </a:p>
          <a:p xmlns:a="http://schemas.openxmlformats.org/drawingml/2006/main">
            <a:pPr algn="ctr"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who + watts?</a:t>
            </a:r>
          </a:p>
        </p:txBody>
      </p:sp>
      <p:cxnSp>
        <p:nvCxnSpPr>
          <p:cNvPr id="84" name=""/>
          <p:cNvCxnSpPr/>
          <p:nvPr/>
        </p:nvCxnSpPr>
        <p:spPr>
          <a:xfrm xmlns:a="http://schemas.openxmlformats.org/drawingml/2006/main">
            <a:off x="3810000" y="1162050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666666"/>
            </a:solidFill>
            <a:prstDash val="solid"/>
          </a:ln>
        </p:spPr>
      </p:cxnSp>
      <p:cxnSp>
        <p:nvCxnSpPr>
          <p:cNvPr id="85" name=""/>
          <p:cNvCxnSpPr/>
          <p:nvPr/>
        </p:nvCxnSpPr>
        <p:spPr>
          <a:xfrm xmlns:a="http://schemas.openxmlformats.org/drawingml/2006/main">
            <a:off x="6810375" y="1162050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666666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5668C5-18D0-4B3D-BEB1-AA3C3DC2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23825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Figure 1: Single-meter NILM objective under overlapping loads and PV-aware signed power.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F550F5-3AD7-4D2F-B134-D9732BF9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668375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00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00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path</a:t>
            </a:r>
          </a:p>
        </p:txBody>
      </p:sp>
      <p:cxnSp>
        <p:nvCxnSpPr>
          <p:cNvPr id="88" name=""/>
          <p:cNvCxnSpPr/>
          <p:nvPr/>
        </p:nvCxnSpPr>
        <p:spPr>
          <a:xfrm xmlns:a="http://schemas.openxmlformats.org/drawingml/2006/main">
            <a:off x="1485900" y="14487525"/>
            <a:ext cx="859155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C90C0F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97FEF3-0D3F-4719-8201-5E380530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859000"/>
            <a:ext cx="87630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Synthetic generator: eight appliance models plus baseload, PV and four-quadrant machine behavior; exact per-sample ground truth.</a:t>
            </a:r>
          </a:p>
          <a:p xmlns:a="http://schemas.openxmlformats.org/drawingml/2006/main">
            <a:pPr algn="l"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Aggregator: phase-wise P/Q summation, synthesized voltage/frequency, and complex vector summation of current harmonics (orders 2-40).</a:t>
            </a:r>
          </a:p>
          <a:p xmlns:a="http://schemas.openxmlformats.org/drawingml/2006/main">
            <a:pPr algn="l"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PAC4200 reader: persistent Modbus TCP acquisition, 5 Hz samples, session recorder, harmonic file-record probing and HDF5 output.</a:t>
            </a:r>
          </a:p>
          <a:p xmlns:a="http://schemas.openxmlformats.org/drawingml/2006/main">
            <a:pPr algn="l"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Measured scenario mixer: loops real single-device recordings with random ON/OFF schedules to create labelled multi-device training mixes.</a:t>
            </a:r>
          </a:p>
        </p:txBody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ea996921a4240"/>
          <a:stretch xmlns:a="http://schemas.openxmlformats.org/drawingml/2006/main"/>
        </p:blipFill>
        <p:spPr>
          <a:xfrm xmlns:a="http://schemas.openxmlformats.org/drawingml/2006/main">
            <a:off x="1690134" y="20812125"/>
            <a:ext cx="8240233" cy="59055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7BA3F6-B724-4A19-9604-4461B51F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812875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Figure 2: Mix-model inference on a real three-device recording; stacked predicted power is compared with measured total power.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41E8B-5BAE-4302-88C7-479632A2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5780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00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00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Implementation focus</a:t>
            </a:r>
          </a:p>
        </p:txBody>
      </p:sp>
      <p:cxnSp>
        <p:nvCxnSpPr>
          <p:cNvPr id="93" name=""/>
          <p:cNvCxnSpPr/>
          <p:nvPr/>
        </p:nvCxnSpPr>
        <p:spPr>
          <a:xfrm xmlns:a="http://schemas.openxmlformats.org/drawingml/2006/main">
            <a:off x="10725150" y="6076950"/>
            <a:ext cx="859155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EA5B0C"/>
            </a:solidFill>
            <a:prstDash val="solid"/>
          </a:ln>
        </p:spPr>
      </p:cxnSp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9b8610675d4b75"/>
          <a:srcRect xmlns:a="http://schemas.openxmlformats.org/drawingml/2006/main" l="0" t="1295" r="0" b="12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10875" y="6572250"/>
            <a:ext cx="8477250" cy="4810125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B35BF7-FC76-4AB5-820B-BD943689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11477625"/>
            <a:ext cx="847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Figure 3: Live dashboard: current devices, confidence, residual, per-device power and edge events.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F56432-EA3E-4E8A-9AB9-E1FB2EF2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2049125"/>
            <a:ext cx="876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system is intentionally source-agnostic: after acquisition, synthetic scenarios, measured single-device recordings and semi-synthetic measured mixes enter the same loader, feature builder, training code and inference path.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6EBADA-5DF7-4EF2-A457-8E021D79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3858875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17-feature RF mix model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958822-351E-452F-BE6A-401C403C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4592300"/>
            <a:ext cx="8763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Steady state: Ptot mean/std/min/max, Qtot mean/std, Q/P ratio and Stot mean.</a:t>
            </a:r>
          </a:p>
          <a:p xmlns:a="http://schemas.openxmlformats.org/drawingml/2006/main">
            <a:pPr algn="l"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Phase/context: L1-L3 active power, PF, THD_I and file-relative hour.</a:t>
            </a:r>
          </a:p>
          <a:p xmlns:a="http://schemas.openxmlformats.org/drawingml/2006/main">
            <a:pPr algn="l"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Edge features: Pstep_max, Qstep_at_Pstep, n_steps.</a:t>
            </a:r>
          </a:p>
          <a:p xmlns:a="http://schemas.openxmlformats.org/drawingml/2006/main">
            <a:pPr algn="l"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Bundle: presence classifier + power regressor; watts are gated by predicted presence before display.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755D17-5BA0-4A4A-A042-48C85E75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8716625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Edge detection in detail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842CC8-CB6D-400E-9827-ED6F802A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9431000"/>
            <a:ext cx="8763000" cy="547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live engine scans the last 8 s of P/Q samples and compares settled medians before and after the strongest jump.</a:t>
            </a:r>
          </a:p>
          <a:p xmlns:a="http://schemas.openxmlformats.org/drawingml/2006/main">
            <a:pPr algn="l"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 edge counts only above thresholds (about 8 W or 16 var), after quiet-state checks and a debounce interval.</a:t>
            </a:r>
          </a:p>
          <a:p xmlns:a="http://schemas.openxmlformats.org/drawingml/2006/main">
            <a:pPr algn="l"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Each edge is matched to single-device signatures in dP/dQ space; matched edges claim devices ON/OFF with exact timestamps.</a:t>
            </a:r>
          </a:p>
          <a:p xmlns:a="http://schemas.openxmlformats.org/drawingml/2006/main">
            <a:pPr algn="l"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 power is not forced into known classes: sustained unexplained power triggers the unknown-device teaching workflow.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16A9B5-A406-49A4-9357-9A9D303D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5860375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Training-on-the-go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AA019A-D298-4ED8-975E-311C0A66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574750"/>
            <a:ext cx="8763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 Unknown residual appears in the live dashboard.</a:t>
            </a:r>
          </a:p>
          <a:p xmlns:a="http://schemas.openxmlformats.org/drawingml/2006/main">
            <a:pPr algn="l"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 User names the device and records an isolated OFF-ON-OFF sequence.</a:t>
            </a:r>
          </a:p>
          <a:p xmlns:a="http://schemas.openxmlformats.org/drawingml/2006/main">
            <a:pPr algn="l"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 Measured scenarios are rebuilt automatically.</a:t>
            </a:r>
          </a:p>
          <a:p xmlns:a="http://schemas.openxmlformats.org/drawingml/2006/main">
            <a:pPr algn="l"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 Mix and identify models retrain in the background and hot-reload.</a:t>
            </a:r>
          </a:p>
          <a:p xmlns:a="http://schemas.openxmlformats.org/drawingml/2006/main">
            <a:pPr algn="l"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5. New device vocabulary is stored in the model bundle; no code change is required.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F02DB0-9D93-4D16-BA64-E4562251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0" y="525780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00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00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Results and limits</a:t>
            </a:r>
          </a:p>
        </p:txBody>
      </p:sp>
      <p:cxnSp>
        <p:nvCxnSpPr>
          <p:cNvPr id="104" name=""/>
          <p:cNvCxnSpPr/>
          <p:nvPr/>
        </p:nvCxnSpPr>
        <p:spPr>
          <a:xfrm xmlns:a="http://schemas.openxmlformats.org/drawingml/2006/main">
            <a:off x="19964400" y="6076950"/>
            <a:ext cx="859155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B82585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21214E-9517-4CEA-93AC-EC18CDD9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0" y="6572250"/>
            <a:ext cx="271462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B8258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7EE3AD-FB7C-4875-8D06-E1C35EDE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0" y="6572250"/>
            <a:ext cx="2095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2585"/>
          </a:solidFill>
          <a:ln xmlns:a="http://schemas.openxmlformats.org/drawingml/2006/main" w="0">
            <a:solidFill>
              <a:srgbClr val="B8258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5E5291-17FB-4182-99E7-9960F424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6350" y="6800850"/>
            <a:ext cx="2047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B82585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B82585"/>
                </a:solidFill>
                <a:latin typeface="Arial"/>
                <a:ea typeface="Arial"/>
                <a:cs typeface="Arial"/>
              </a:rPr>
              <a:t>0.916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C9B8F4-323B-4F86-9268-0078D584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45400" y="7505700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Mix presence</a:t>
            </a:r>
          </a:p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macro-F1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1069F0-1653-495B-B89A-366D8B87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45400" y="8143875"/>
            <a:ext cx="204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1920 held-out</a:t>
            </a:r>
          </a:p>
          <a:p xmlns:a="http://schemas.openxmlformats.org/drawingml/2006/main">
            <a:pPr algn="l">
              <a:defRPr sz="1500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windows</a:t>
            </a:r>
          </a:p>
          <a:p xmlns:a="http://schemas.openxmlformats.org/drawingml/2006/main">
            <a:pPr algn="l">
              <a:defRPr sz="1500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7 families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7E7998-70F9-4A6F-B89F-F2517DAB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7625" y="6572250"/>
            <a:ext cx="271462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EA5B0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CCE7F6-7693-44EB-A004-95C4FACE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7625" y="6572250"/>
            <a:ext cx="2095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B0C"/>
          </a:solidFill>
          <a:ln xmlns:a="http://schemas.openxmlformats.org/drawingml/2006/main" w="0">
            <a:solidFill>
              <a:srgbClr val="EA5B0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425D1E-B3EB-4D11-95C4-C7B20A99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26725" y="6800850"/>
            <a:ext cx="2047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EA5B0C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EA5B0C"/>
                </a:solidFill>
                <a:latin typeface="Arial"/>
                <a:ea typeface="Arial"/>
                <a:cs typeface="Arial"/>
              </a:rPr>
              <a:t>2.9 W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6EFE3F6-11F4-44C5-8B29-5030DAD1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45775" y="7505700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Gated power</a:t>
            </a:r>
          </a:p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9EA5C1B-EB99-4FC7-8737-7B836F57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45775" y="8143875"/>
            <a:ext cx="204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Presence-gated</a:t>
            </a:r>
          </a:p>
          <a:p xmlns:a="http://schemas.openxmlformats.org/drawingml/2006/main">
            <a:pPr algn="l">
              <a:defRPr sz="1500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watts shown in</a:t>
            </a:r>
          </a:p>
          <a:p xmlns:a="http://schemas.openxmlformats.org/drawingml/2006/main">
            <a:pPr algn="l">
              <a:defRPr sz="1500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the dashboard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2A99B86-B9BD-4E52-93CD-450B9D3F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0" y="6572250"/>
            <a:ext cx="271462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C90C0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9998743-2B78-4A44-8457-83A4C43C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0" y="6572250"/>
            <a:ext cx="2095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C0F"/>
          </a:solidFill>
          <a:ln xmlns:a="http://schemas.openxmlformats.org/drawingml/2006/main" w="0">
            <a:solidFill>
              <a:srgbClr val="C90C0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D0EAF5F-D81D-4E3D-86B1-7CC365CE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7100" y="6800850"/>
            <a:ext cx="2047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C90C0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C90C0F"/>
                </a:solidFill>
                <a:latin typeface="Arial"/>
                <a:ea typeface="Arial"/>
                <a:cs typeface="Arial"/>
              </a:rPr>
              <a:t>0.955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0DF3682-8EF9-46CA-A36A-78796DC6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46150" y="7505700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Identify</a:t>
            </a:r>
          </a:p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macro-F1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A75C7F7-BCA1-47F7-A85B-B90BF028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46150" y="8143875"/>
            <a:ext cx="204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Real active</a:t>
            </a:r>
          </a:p>
          <a:p xmlns:a="http://schemas.openxmlformats.org/drawingml/2006/main">
            <a:pPr algn="l">
              <a:defRPr sz="1500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windows</a:t>
            </a:r>
          </a:p>
          <a:p xmlns:a="http://schemas.openxmlformats.org/drawingml/2006/main">
            <a:pPr algn="l">
              <a:defRPr sz="1500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row split caveat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32BB013-F2B7-4B0A-97B3-55F70ACA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2625" y="14744700"/>
            <a:ext cx="657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</a:pPr>
            <a:r>
              <a:rPr sz="1425" b="0">
                <a:solidFill>
                  <a:srgbClr val="000000"/>
                </a:solidFill>
                <a:latin typeface="Aptos"/>
              </a:rPr>
              <a:t>Figure 4: Live high-load dashboard from the paper; water boiler, standing lamp and table fan are split with about 99% explained power.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26E274C-5A97-46B9-9F0B-9A616814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0" y="15573375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worked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1B715E8-E831-4550-94C9-D8897138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0" y="16287750"/>
            <a:ext cx="8763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</a:pPr>
            <a:r>
              <a:rPr sz="2475" b="0">
                <a:solidFill>
                  <a:srgbClr val="000000"/>
                </a:solidFill>
                <a:latin typeface="Aptos"/>
              </a:rPr>
              <a:t>End-to-end loop works: record, mix, train, infer, run live, detect unknowns and retrain.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2475" b="0">
                <a:solidFill>
                  <a:srgbClr val="000000"/>
                </a:solidFill>
                <a:latin typeface="Aptos"/>
              </a:rPr>
              <a:t>Live validation detected an unknown residual after 8 s, retrained in 26 s, and re-recognised the taught device with 0.95 confidence.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2475" b="0">
                <a:solidFill>
                  <a:srgbClr val="000000"/>
                </a:solidFill>
                <a:latin typeface="Aptos"/>
              </a:rPr>
              <a:t>The high-load test split about 1.44 kW into water boiler, standing lamp and table fan with about 99% explained power.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2475" b="0">
                <a:solidFill>
                  <a:srgbClr val="000000"/>
                </a:solidFill>
                <a:latin typeface="Aptos"/>
              </a:rPr>
              <a:t>Event features improved the measured-data mix model compared with the earlier frozen bundle.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A48F634-8BD9-46EE-9D77-FA9308FD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0" y="20621625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can be improved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07FC784-11DC-4D4F-8FC1-49D2D3AA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0" y="21336000"/>
            <a:ext cx="87630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</a:pPr>
            <a:r>
              <a:rPr sz="2475" b="0">
                <a:solidFill>
                  <a:srgbClr val="000000"/>
                </a:solidFill>
                <a:latin typeface="Aptos"/>
              </a:rPr>
              <a:t>Record real PV during actual generation; current PV recordings contain almost no generated power.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2475" b="0">
                <a:solidFill>
                  <a:srgbClr val="000000"/>
                </a:solidFill>
                <a:latin typeface="Aptos"/>
              </a:rPr>
              <a:t>Measure several sessions per device and more variants of small fans, then use grouped evaluation by session.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2475" b="0">
                <a:solidFill>
                  <a:srgbClr val="000000"/>
                </a:solidFill>
                <a:latin typeface="Aptos"/>
              </a:rPr>
              <a:t>Run feature ablations: common vs harmonic, 14 vs 17 aggregate features, and with/without edge features.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2475" b="0">
                <a:solidFill>
                  <a:srgbClr val="000000"/>
                </a:solidFill>
                <a:latin typeface="Aptos"/>
              </a:rPr>
              <a:t>Use sequence models (CNN/LSTM or seq2point) for long appliance cycles such as washing machines.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2475" b="0">
                <a:solidFill>
                  <a:srgbClr val="000000"/>
                </a:solidFill>
                <a:latin typeface="Aptos"/>
              </a:rPr>
              <a:t>Validate on true simultaneous multi-device recordings, not only semi-synthetic measured mixes.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A13F70D-9383-4C4F-AEC8-53A775B4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0" y="27289125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cxnSp>
        <p:nvCxnSpPr>
          <p:cNvPr id="127" name=""/>
          <p:cNvCxnSpPr/>
          <p:nvPr/>
        </p:nvCxnSpPr>
        <p:spPr>
          <a:xfrm xmlns:a="http://schemas.openxmlformats.org/drawingml/2006/main">
            <a:off x="19983450" y="27984450"/>
            <a:ext cx="8620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E9E9E"/>
            </a:solidFill>
            <a:prstDash val="solid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66B7153-9B1C-4503-89B7-C69F81EF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0" y="28432125"/>
            <a:ext cx="876300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</a:pPr>
            <a:r>
              <a:rPr sz="2700" b="0">
                <a:solidFill>
                  <a:srgbClr val="000000"/>
                </a:solidFill>
                <a:latin typeface="Aptos"/>
              </a:rPr>
              <a:t>A 5 Hz industrial power meter is enough for a useful NILM laboratory system when its processed channels are fused deliberately. The current implementation is not just an offline classifier: it is a deployable workflow with measured data ingestion, RF presence/power inference, edge-aware live events, residual honesty, guided learning for unknown loads, and hot-reload retraining during operation.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15D7598-7CE1-4A31-AEB6-FEC977FB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Key implementation artifacts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90C88F4-1A1E-40FE-8041-234DDDB5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289375"/>
            <a:ext cx="8763000" cy="495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Scripts/PAC4200_reader/pac_reader.py: Modbus acquisition, dashboard, HDF5 recorder.</a:t>
            </a:r>
          </a:p>
          <a:p xmlns:a="http://schemas.openxmlformats.org/drawingml/2006/main">
            <a:pPr algn="l"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Scripts/Aggregator/mix_measured_scenarios.py: real recordings to labelled training mixes.</a:t>
            </a:r>
          </a:p>
          <a:p xmlns:a="http://schemas.openxmlformats.org/drawingml/2006/main">
            <a:pPr algn="l"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Scripts/MS2_Pipeline/nilm_pipeline.py: loaders, feature extraction and 17-feature AGG_FEATURES.</a:t>
            </a:r>
          </a:p>
          <a:p xmlns:a="http://schemas.openxmlformats.org/drawingml/2006/main">
            <a:pPr algn="l"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Scripts/MS2_Pipeline/train.py: RF/LGBM/MLP tasks; mix bundle stores features, devices and metrics.</a:t>
            </a:r>
          </a:p>
          <a:p xmlns:a="http://schemas.openxmlformats.org/drawingml/2006/main">
            <a:pPr algn="l"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Scripts/MS2_Pipeline/live.py: live inference, edge claims, residual monitor and teach/retrain loop.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1287FA2-7C4A-495F-AD00-F7365FC8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1194375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Evaluation protocol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E02B851-597E-4EFC-A5C1-E95FFFB5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1908750"/>
            <a:ext cx="87630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Mix model: grouped held-out split over measured scenarios, ON threshold 5 W.</a:t>
            </a:r>
          </a:p>
          <a:p xmlns:a="http://schemas.openxmlformats.org/drawingml/2006/main">
            <a:pPr algn="l"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Metrics travel with the model bundle: feature list, appliance vocabulary, F1 and MAE.</a:t>
            </a:r>
          </a:p>
          <a:p xmlns:a="http://schemas.openxmlformats.org/drawingml/2006/main">
            <a:pPr algn="l"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Real mixed recordings without per-sample ground truth are evaluated as expected device sets parsed from filenames.</a:t>
            </a:r>
          </a:p>
          <a:p xmlns:a="http://schemas.openxmlformats.org/drawingml/2006/main">
            <a:pPr algn="l"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poster reports tracked metrics from output/train_mix_metrics.json and output/train_identify_metrics.json.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3DCF0F8-F5BA-447E-99FE-B58DA58E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6047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Sources</a:t>
            </a:r>
          </a:p>
        </p:txBody>
      </p:sp>
      <p:cxnSp>
        <p:nvCxnSpPr>
          <p:cNvPr id="134" name=""/>
          <p:cNvCxnSpPr/>
          <p:nvPr/>
        </p:nvCxnSpPr>
        <p:spPr>
          <a:xfrm xmlns:a="http://schemas.openxmlformats.org/drawingml/2006/main">
            <a:off x="1428750" y="38271450"/>
            <a:ext cx="8763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E9E9E"/>
            </a:solidFill>
            <a:prstDash val="solid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C27BDCE-D2C2-4C82-A2FD-46034FB8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576250"/>
            <a:ext cx="183832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</a:pPr>
            <a:r>
              <a:rPr sz="1725" b="0">
                <a:solidFill>
                  <a:srgbClr val="000000"/>
                </a:solidFill>
                <a:latin typeface="Aptos"/>
              </a:rPr>
              <a:t>Hart (1992) Nonintrusive appliance load monitoring; Reddy et al. (2020) and Papageorgiou et al. (2022) on feature fusion and harmonic NILM; Siemens SENTRON PAC4200 system manual; project docs 01-09; tracked model metrics in Scripts/MS2_Pipeline/output. Figures are generated from repository artifacts and live-system screenshots.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816ED96-47DD-4C86-B95C-27CB180E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0" y="38576250"/>
            <a:ext cx="876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Repository focus: reproducible synthetic corpus, measured PAC4200 recordings, semi-synthetic measured mixes, RF/LGBM/MLP training paths and Streamlit/Flask live interfaces.</a:t>
            </a:r>
          </a:p>
        </p:txBody>
      </p:sp>
      <p:pic xmlns:a="http://schemas.openxmlformats.org/drawingml/2006/main" xmlns:r="http://schemas.openxmlformats.org/officeDocument/2006/relationships">
        <p:nvPicPr>
          <p:cNvPr id="135" name="Live test high-load dashboard screenshot" descr="live_test3.jpeg"/>
          <p:cNvPicPr>
            <a:picLocks noChangeAspect="1"/>
          </p:cNvPicPr>
          <p:nvPr/>
        </p:nvPicPr>
        <p:blipFill>
          <a:blip r:embed="rId6"/>
          <a:srcRect t="8300" b="8300"/>
          <a:stretch>
            <a:fillRect/>
          </a:stretch>
        </p:blipFill>
        <p:spPr>
          <a:xfrm>
            <a:off x="19907250" y="9239250"/>
            <a:ext cx="87630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4338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2026-07-13T13:22:45.5260000Z</dcterms:created>
  <dcterms:modified xsi:type="dcterms:W3CDTF">2026-07-13T13:22:45.5270000Z</dcterms:modified>
</coreProperties>
</file>