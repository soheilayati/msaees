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0e0bb2d64d4f83" /><Relationship Type="http://schemas.openxmlformats.org/officeDocument/2006/relationships/extended-properties" Target="/docProps/app.xml" Id="R26488dc7d99b4d5b" /><Relationship Type="http://schemas.openxmlformats.org/officeDocument/2006/relationships/officeDocument" Target="/ppt/presentation.xml" Id="Rf6e87cd5ba424d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e9b1d92cef4184"/>
  </p:sldMasterIdLst>
  <p:notesMasterIdLst>
    <p:notesMasterId xmlns:r="http://schemas.openxmlformats.org/officeDocument/2006/relationships" r:id="R9042782acb914af6"/>
  </p:notesMasterIdLst>
  <p:sldIdLst>
    <p:sldId xmlns:r="http://schemas.openxmlformats.org/officeDocument/2006/relationships" id="256" r:id="R4a5ce8b4c7864a73"/>
  </p:sldIdLst>
  <p:sldSz cx="30279975" cy="4280849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ccdfbefcda4a90" /><Relationship Type="http://schemas.openxmlformats.org/officeDocument/2006/relationships/slideMaster" Target="/ppt/slideMasters/slideMaster1.xml" Id="R60e9b1d92cef4184" /><Relationship Type="http://schemas.openxmlformats.org/officeDocument/2006/relationships/notesMaster" Target="/ppt/notesMasters/notesMaster1.xml" Id="R9042782acb914af6" /><Relationship Type="http://schemas.openxmlformats.org/officeDocument/2006/relationships/presProps" Target="/ppt/presProps.xml" Id="Ra1d08523b19647bb" /><Relationship Type="http://schemas.openxmlformats.org/officeDocument/2006/relationships/tableStyles" Target="/ppt/tableStyles.xml" Id="R3b31d0ad29504b89" /><Relationship Type="http://schemas.openxmlformats.org/officeDocument/2006/relationships/slide" Target="/ppt/slides/slide1.xml" Id="R4a5ce8b4c7864a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ddb1b1dbe64b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d61dbf83464eb4" /><Relationship Type="http://schemas.openxmlformats.org/officeDocument/2006/relationships/notesMaster" Target="/ppt/notesMasters/notesMaster1.xml" Id="R91efd0e6c62444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a08fdbe68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3c61c7b174d44" /><Relationship Type="http://schemas.openxmlformats.org/officeDocument/2006/relationships/slideLayout" Target="/ppt/slideLayouts/slideLayout1.xml" Id="R684570c5fe3843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570c5fe3843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3d06781e42e1" /><Relationship Type="http://schemas.openxmlformats.org/officeDocument/2006/relationships/image" Target="/ppt/media/image.png" Id="R4a9ea996921a4240" /><Relationship Type="http://schemas.openxmlformats.org/officeDocument/2006/relationships/image" Target="/ppt/media/image.jpeg" Id="R019b8610675d4b75" /><Relationship Type="http://schemas.openxmlformats.org/officeDocument/2006/relationships/image" Target="/ppt/media/image2.png" Id="Re4fd69a53af34f48" /><Relationship Type="http://schemas.openxmlformats.org/officeDocument/2006/relationships/notesSlide" Target="/ppt/notesSlides/notesSlide1.xml" Id="R471f2b91fa394a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99651-CFDF-4D36-9AFF-1B8EF114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-219075"/>
            <a:ext cx="90582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C0F"/>
          </a:solidFill>
          <a:ln xmlns:a="http://schemas.openxmlformats.org/drawingml/2006/main" w="0">
            <a:solidFill>
              <a:srgbClr val="C90C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39672-3528-4BAB-AF29-750EAD28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-219075"/>
            <a:ext cx="90582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B0C"/>
          </a:solidFill>
          <a:ln xmlns:a="http://schemas.openxmlformats.org/drawingml/2006/main" w="0">
            <a:solidFill>
              <a:srgbClr val="EA5B0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543EF-55DA-4A64-AD25-60B3AEB2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1975" y="-219075"/>
            <a:ext cx="9182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2585"/>
          </a:solidFill>
          <a:ln xmlns:a="http://schemas.openxmlformats.org/drawingml/2006/main" w="0">
            <a:solidFill>
              <a:srgbClr val="B825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07CBC-359C-4721-AF4F-8864976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42950"/>
            <a:ext cx="1762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Non-Intrusive Load Monitoring</a:t>
            </a:r>
          </a:p>
          <a:p xmlns:a="http://schemas.openxmlformats.org/drawingml/2006/main">
            <a:pPr algn="l">
              <a:defRPr sz="6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Harmonic Feature Fusion</a:t>
            </a:r>
          </a:p>
          <a:p xmlns:a="http://schemas.openxmlformats.org/drawingml/2006/main">
            <a:pPr algn="l">
              <a:defRPr sz="6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Live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D4553-F409-4BF7-BAF5-20A15724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1066800"/>
            <a:ext cx="928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5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Modeling, Simulation and Automation of Electrical Energy Systems</a:t>
            </a:r>
          </a:p>
          <a:p xmlns:a="http://schemas.openxmlformats.org/drawingml/2006/main">
            <a:pPr algn="r">
              <a:defRPr sz="35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 Koeln | Soheil Ayati, Marc Steffgen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A4EB6-686A-4DBE-BD20-3EE5FCBC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752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complete laboratory NILM pipeline: one PAC4200 meter, synthetic and measured ground truth, a 17-feature RF mix model, edge-based live recognition, and training-on-the-go for unknown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5EB80-CAAF-45E6-8F2C-97E2413D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we built it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1485900" y="6076950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C90C0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1798C-BF5B-4ABA-95F5-25A27ADF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77000"/>
            <a:ext cx="876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NILM estimates appliance activity from one aggregate measurement at the point of common coupling.</a:t>
            </a:r>
          </a:p>
          <a:p xmlns:a="http://schemas.openxmlformats.org/drawingml/2006/main">
            <a:pPr algn="l"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practical challenge is overlap: several devices run at once, similar loads share the same P range, and PV can mask consumption by driving signed power toward zero.</a:t>
            </a:r>
          </a:p>
          <a:p xmlns:a="http://schemas.openxmlformats.org/drawingml/2006/main">
            <a:pPr algn="l"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project therefore uses every measurable low-frequency signature: active/reactive power, power factor, THD, per-order harmonics and switching edges.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E6ACC-6316-48EF-BEB9-C87DB70D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0490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90C0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272D2-3BB4-4004-807A-A226FEC9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1220450"/>
            <a:ext cx="1657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Loads</a:t>
            </a:r>
          </a:p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 PV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7A504-64A0-4B7E-82A2-13173CD9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0490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A5B0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55C43-1967-48FF-9CEA-0282595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1220450"/>
            <a:ext cx="1657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PAC4200</a:t>
            </a:r>
          </a:p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683E1-3A5D-46E2-A0B6-674E0A7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0490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825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0A150-6101-4062-9F57-DF927C84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2204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NILM</a:t>
            </a:r>
          </a:p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 + watts?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>
            <a:off x="3810000" y="11620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66666"/>
            </a:solidFill>
            <a:prstDash val="solid"/>
          </a:ln>
        </p:spPr>
      </p:cxnSp>
      <p:cxnSp>
        <p:nvCxnSpPr>
          <p:cNvPr id="85" name=""/>
          <p:cNvCxnSpPr/>
          <p:nvPr/>
        </p:nvCxnSpPr>
        <p:spPr>
          <a:xfrm xmlns:a="http://schemas.openxmlformats.org/drawingml/2006/main">
            <a:off x="6810375" y="11620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6666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668C5-18D0-4B3D-BEB1-AA3C3DC2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3825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1: Single-meter NILM objective under overlapping loads and PV-aware signed power.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550F5-3AD7-4D2F-B134-D9732BF9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668375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path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1485900" y="14487525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C90C0F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7FEF3-0D3F-4719-8201-5E380530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859000"/>
            <a:ext cx="87630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generator: eight appliance models plus baseload, PV and four-quadrant machine behavior; exact per-sample ground truth.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Aggregator: phase-wise P/Q summation, synthesized voltage/frequency, and complex vector summation of current harmonics (orders 2-40).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PAC4200 reader: persistent Modbus TCP acquisition, 5 Hz samples, session recorder, harmonic file-record probing and HDF5 output.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scenario mixer: loops real single-device recordings with random ON/OFF schedules to create labelled multi-device training mixes.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ea996921a4240"/>
          <a:stretch xmlns:a="http://schemas.openxmlformats.org/drawingml/2006/main"/>
        </p:blipFill>
        <p:spPr>
          <a:xfrm xmlns:a="http://schemas.openxmlformats.org/drawingml/2006/main">
            <a:off x="1690134" y="20812125"/>
            <a:ext cx="8240233" cy="59055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BA3F6-B724-4A19-9604-4461B51F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1287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2: Mix-model inference on a real three-device recording; stacked predicted power is compared with measured total power.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41E8B-5BAE-4302-88C7-479632A2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578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Implementation focus</a:t>
            </a:r>
          </a:p>
        </p:txBody>
      </p:sp>
      <p:cxnSp>
        <p:nvCxnSpPr>
          <p:cNvPr id="93" name=""/>
          <p:cNvCxnSpPr/>
          <p:nvPr/>
        </p:nvCxnSpPr>
        <p:spPr>
          <a:xfrm xmlns:a="http://schemas.openxmlformats.org/drawingml/2006/main">
            <a:off x="10725150" y="6076950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A5B0C"/>
            </a:solidFill>
            <a:prstDash val="solid"/>
          </a:ln>
        </p:spPr>
      </p:cxn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b8610675d4b75"/>
          <a:srcRect xmlns:a="http://schemas.openxmlformats.org/drawingml/2006/main" l="0" t="1295" r="0" b="1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10875" y="6572250"/>
            <a:ext cx="8477250" cy="481012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35BF7-FC76-4AB5-820B-BD943689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1477625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3: Live dashboard: current devices, confidence, residual, per-device power and edge events.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56432-EA3E-4E8A-9AB9-E1FB2EF2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204912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system is intentionally source-agnostic: after acquisition, synthetic scenarios, measured single-device recordings and semi-synthetic measured mixes enter the same loader, feature builder, training code and inference path.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6EBADA-5DF7-4EF2-A457-8E021D7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8588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17-feature RF mix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958822-351E-452F-BE6A-401C403C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4592300"/>
            <a:ext cx="876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Steady state: Ptot mean/std/min/max, Qtot mean/std, Q/P ratio and Stot mean.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Phase/context: L1-L3 active power, PF, THD_I and file-relative hour.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Edge features: Pstep_max, Qstep_at_Pstep, n_steps.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Bundle: presence classifier + power regressor; watts are gated by predicted presence before display.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755D17-5BA0-4A4A-A042-48C85E75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7166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Edge detection in detail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42CC8-CB6D-400E-9827-ED6F802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431000"/>
            <a:ext cx="8763000" cy="547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live engine scans the last 8 s of P/Q samples and compares settled medians before and after the strongest jump.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edge counts only above thresholds (about 8 W or 16 var), after quiet-state checks and a debounce interval.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edge is matched to single-device signatures in dP/dQ space; matched edges claim devices ON/OFF with exact timestamps.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power is not forced into known classes: sustained unexplained power triggers the unknown-device teaching workflow.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6A9B5-A406-49A4-9357-9A9D303D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8603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Training-on-the-go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AA019A-D298-4ED8-975E-311C0A66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574750"/>
            <a:ext cx="876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Unknown residual appears in the live dashboard.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User names the device and records an isolated OFF-ON-OFF sequence.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Measured scenarios are rebuilt automatically.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Mix and identify models retrain in the background and hot-reload.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New device vocabulary is stored in the model bundle; no code change is required.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02DB0-9D93-4D16-BA64-E4562251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52578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Results and limits</a:t>
            </a:r>
          </a:p>
        </p:txBody>
      </p:sp>
      <p:cxnSp>
        <p:nvCxnSpPr>
          <p:cNvPr id="104" name=""/>
          <p:cNvCxnSpPr/>
          <p:nvPr/>
        </p:nvCxnSpPr>
        <p:spPr>
          <a:xfrm xmlns:a="http://schemas.openxmlformats.org/drawingml/2006/main">
            <a:off x="19964400" y="6076950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B82585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21214E-9517-4CEA-93AC-EC18CDD9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6572250"/>
            <a:ext cx="2714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8258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7EE3AD-FB7C-4875-8D06-E1C35EDE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6572250"/>
            <a:ext cx="209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2585"/>
          </a:solidFill>
          <a:ln xmlns:a="http://schemas.openxmlformats.org/drawingml/2006/main" w="0">
            <a:solidFill>
              <a:srgbClr val="B8258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5E5291-17FB-4182-99E7-9960F42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6350" y="6800850"/>
            <a:ext cx="204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B82585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B82585"/>
                </a:solidFill>
                <a:latin typeface="Arial"/>
                <a:ea typeface="Arial"/>
                <a:cs typeface="Arial"/>
              </a:rPr>
              <a:t>0.916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C9B8F4-323B-4F86-9268-0078D584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75057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Mix presence</a:t>
            </a:r>
          </a:p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1069F0-1653-495B-B89A-366D8B87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81438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1920 held-out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windows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7 families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7E7998-70F9-4A6F-B89F-F2517DAB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25" y="6572250"/>
            <a:ext cx="2714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A5B0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CCE7F6-7693-44EB-A004-95C4FACE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25" y="6572250"/>
            <a:ext cx="209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B0C"/>
          </a:solidFill>
          <a:ln xmlns:a="http://schemas.openxmlformats.org/drawingml/2006/main" w="0">
            <a:solidFill>
              <a:srgbClr val="EA5B0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425D1E-B3EB-4D11-95C4-C7B20A99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25" y="6800850"/>
            <a:ext cx="204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EA5B0C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EA5B0C"/>
                </a:solidFill>
                <a:latin typeface="Arial"/>
                <a:ea typeface="Arial"/>
                <a:cs typeface="Arial"/>
              </a:rPr>
              <a:t>2.9 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EFE3F6-11F4-44C5-8B29-5030DAD1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5775" y="75057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power</a:t>
            </a:r>
          </a:p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EA5C1B-EB99-4FC7-8737-7B836F57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5775" y="81438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Presence-gated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watts shown in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the dashboard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A99B86-B9BD-4E52-93CD-450B9D3F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0" y="6572250"/>
            <a:ext cx="2714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90C0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998743-2B78-4A44-8457-83A4C43C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0" y="6572250"/>
            <a:ext cx="209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C0F"/>
          </a:solidFill>
          <a:ln xmlns:a="http://schemas.openxmlformats.org/drawingml/2006/main" w="0">
            <a:solidFill>
              <a:srgbClr val="C90C0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0EAF5F-D81D-4E3D-86B1-7CC365CE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0" y="6800850"/>
            <a:ext cx="204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C90C0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C90C0F"/>
                </a:solidFill>
                <a:latin typeface="Arial"/>
                <a:ea typeface="Arial"/>
                <a:cs typeface="Arial"/>
              </a:rPr>
              <a:t>0.955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DF3682-8EF9-46CA-A36A-78796DC6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6150" y="75057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Identify</a:t>
            </a:r>
          </a:p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75C7F7-BCA1-47F7-A85B-B90BF028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6150" y="81438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Real active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windows</a:t>
            </a:r>
          </a:p>
          <a:p xmlns:a="http://schemas.openxmlformats.org/drawingml/2006/main">
            <a:pPr algn="l"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row split caveat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d69a53af34f48"/>
          <a:stretch xmlns:a="http://schemas.openxmlformats.org/drawingml/2006/main"/>
        </p:blipFill>
        <p:spPr>
          <a:xfrm xmlns:a="http://schemas.openxmlformats.org/drawingml/2006/main">
            <a:off x="21315164" y="9572625"/>
            <a:ext cx="5947172" cy="51435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2BB013-F2B7-4B0A-97B3-55F70ACA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25" y="147447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4: Identification confusion matrix for seven measured device families.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6E274C-5A97-46B9-9F0B-9A616814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155733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worked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B715E8-E831-4550-94C9-D889713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16287750"/>
            <a:ext cx="8763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End-to-end loop works: record, mix, train, infer, run live, detect unknowns and retrain.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 features improved the measured-data mix model compared with the earlier frozen bundle.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live monitor combines RF window predictions with edge claims, so fast switching information is not lost inside 10 s windows.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48F634-8BD9-46EE-9D77-FA9308FD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06216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can be improved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7FC784-11DC-4D4F-8FC1-49D2D3AA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1336000"/>
            <a:ext cx="87630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 real PV during actual generation; current PV recordings contain almost no generated power.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 several sessions per device and more variants of small fans, then use grouped evaluation by session.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feature ablations: common vs harmonic, 14 vs 17 aggregate features, and with/without edge features.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sequence models (CNN/LSTM or seq2point) for long appliance cycles such as washing machines.</a:t>
            </a:r>
          </a:p>
          <a:p xmlns:a="http://schemas.openxmlformats.org/drawingml/2006/main">
            <a: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on true simultaneous multi-device recordings, not only semi-synthetic measured mixes.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13F70D-9383-4C4F-AEC8-53A775B4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72891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cxnSp>
        <p:nvCxnSpPr>
          <p:cNvPr id="127" name=""/>
          <p:cNvCxnSpPr/>
          <p:nvPr/>
        </p:nvCxnSpPr>
        <p:spPr>
          <a:xfrm xmlns:a="http://schemas.openxmlformats.org/drawingml/2006/main">
            <a:off x="19983450" y="27984450"/>
            <a:ext cx="862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9E9E"/>
            </a:solidFill>
            <a:prstDash val="soli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6B7153-9B1C-4503-89B7-C69F81EF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8432125"/>
            <a:ext cx="8763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5 Hz industrial power meter is enough for a useful NILM laboratory system when its processed channels are fused deliberately. The current implementation is not just an offline classifier: it is a deployable workflow with measured data ingestion, RF presence/power inference, edge-aware live events, residual honesty and guided learning for unknown loads.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5D7598-7CE1-4A31-AEB6-FEC977FB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Key implementation artifacts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0C88F4-1A1E-40FE-8041-234DDDB5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89375"/>
            <a:ext cx="87630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Scripts/PAC4200_reader/pac_reader.py: Modbus acquisition, dashboard, HDF5 recorder.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Scripts/Aggregator/mix_measured_scenarios.py: real recordings to labelled training mixes.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Scripts/MS2_Pipeline/nilm_pipeline.py: loaders, feature extraction and 17-feature AGG_FEATURES.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Scripts/MS2_Pipeline/train.py: RF/LGBM/MLP tasks; mix bundle stores features, devices and metrics.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Scripts/MS2_Pipeline/live.py: live inference, edge claims, residual monitor and teach/retrain loop.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287FA2-7C4A-495F-AD00-F7365FC8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1943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Evaluation protocol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02B851-597E-4EFC-A5C1-E95FFFB5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908750"/>
            <a:ext cx="8763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Mix model: grouped held-out split over measured scenarios, ON threshold 5 W.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Metrics travel with the model bundle: feature list, appliance vocabulary, F1 and MAE.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mixed recordings without per-sample ground truth are evaluated as expected device sets parsed from filenames.</a:t>
            </a:r>
          </a:p>
          <a:p xmlns:a="http://schemas.openxmlformats.org/drawingml/2006/main">
            <a: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poster reports tracked metrics from output/train_mix_metrics.json and output/train_identify_metrics.json.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DCF0F8-F5BA-447E-99FE-B58DA58E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047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cxnSp>
        <p:nvCxnSpPr>
          <p:cNvPr id="134" name=""/>
          <p:cNvCxnSpPr/>
          <p:nvPr/>
        </p:nvCxnSpPr>
        <p:spPr>
          <a:xfrm xmlns:a="http://schemas.openxmlformats.org/drawingml/2006/main">
            <a:off x="1428750" y="3827145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9E9E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27BDCE-D2C2-4C82-A2FD-46034FB8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0"/>
            <a:ext cx="18383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Hart (1992) Nonintrusive appliance load monitoring; Sahoo et al. (2020) feature fusion for NILM; Siemens SENTRON PAC4200 system manual; project docs 01-09; tracked model metrics in Scripts/MS2_Pipeline/output. Figures are generated from repository artifacts and live-system screenshots.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16ED96-47DD-4C86-B95C-27CB180E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38576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Repository focus: reproducible synthetic corpus, measured PAC4200 recordings, semi-synthetic measured mixes, RF/LGBM/MLP training paths and Streamlit/Flask live interfaces.</a:t>
            </a:r>
          </a:p>
        </p:txBody>
      </p:sp>
    </p:spTree>
    <p:extLst>
      <p:ext uri="{BB962C8B-B14F-4D97-AF65-F5344CB8AC3E}">
        <p14:creationId xmlns:p14="http://schemas.microsoft.com/office/powerpoint/2010/main" val="1984433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2026-07-13T13:22:45.5260000Z</dcterms:created>
  <dcterms:modified xsi:type="dcterms:W3CDTF">2026-07-13T13:22:45.5270000Z</dcterms:modified>
</coreProperties>
</file>