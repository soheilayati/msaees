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b4e9a3117844d4" /><Relationship Type="http://schemas.openxmlformats.org/officeDocument/2006/relationships/extended-properties" Target="/docProps/app.xml" Id="R3387458a9ed04d56" /><Relationship Type="http://schemas.openxmlformats.org/officeDocument/2006/relationships/officeDocument" Target="/ppt/presentation.xml" Id="R3ab24619abb340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35a3fff3d54824"/>
  </p:sldMasterIdLst>
  <p:notesMasterIdLst>
    <p:notesMasterId xmlns:r="http://schemas.openxmlformats.org/officeDocument/2006/relationships" r:id="R829f5c51cb3f40f3"/>
  </p:notesMasterIdLst>
  <p:sldIdLst>
    <p:sldId xmlns:r="http://schemas.openxmlformats.org/officeDocument/2006/relationships" id="256" r:id="Rc4e35b5902e94cb0"/>
  </p:sldIdLst>
  <p:sldSz cx="30279975" cy="4280849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75dd43599f490f" /><Relationship Type="http://schemas.openxmlformats.org/officeDocument/2006/relationships/slideMaster" Target="/ppt/slideMasters/slideMaster1.xml" Id="R7c35a3fff3d54824" /><Relationship Type="http://schemas.openxmlformats.org/officeDocument/2006/relationships/notesMaster" Target="/ppt/notesMasters/notesMaster1.xml" Id="R829f5c51cb3f40f3" /><Relationship Type="http://schemas.openxmlformats.org/officeDocument/2006/relationships/presProps" Target="/ppt/presProps.xml" Id="R534308172d744b69" /><Relationship Type="http://schemas.openxmlformats.org/officeDocument/2006/relationships/tableStyles" Target="/ppt/tableStyles.xml" Id="Raab5c1dfc10649f8" /><Relationship Type="http://schemas.openxmlformats.org/officeDocument/2006/relationships/slide" Target="/ppt/slides/slide1.xml" Id="Rc4e35b5902e94c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eeb50e9a6c41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d977cae1a84171" /><Relationship Type="http://schemas.openxmlformats.org/officeDocument/2006/relationships/notesMaster" Target="/ppt/notesMasters/notesMaster1.xml" Id="R3f846a04e9a74f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f9d730052e45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3d1fd99df4482f" /><Relationship Type="http://schemas.openxmlformats.org/officeDocument/2006/relationships/slideLayout" Target="/ppt/slideLayouts/slideLayout1.xml" Id="R6609d0b01add4a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09d0b01add4a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6337c21f194a07" /><Relationship Type="http://schemas.openxmlformats.org/officeDocument/2006/relationships/image" Target="/ppt/media/image.png" Id="Re707d1dd2ec8463c" /><Relationship Type="http://schemas.openxmlformats.org/officeDocument/2006/relationships/image" Target="/ppt/media/image.jpeg" Id="R96532027de1e4720" /><Relationship Type="http://schemas.openxmlformats.org/officeDocument/2006/relationships/image" Target="/ppt/media/image2.jpeg" Id="R894398f10361443d" /><Relationship Type="http://schemas.openxmlformats.org/officeDocument/2006/relationships/notesSlide" Target="/ppt/notesSlides/notesSlide1.xml" Id="R7b6672d2370547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999651-CFDF-4D36-9AFF-1B8EF114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-219075"/>
            <a:ext cx="90582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0C0F"/>
          </a:solidFill>
          <a:ln xmlns:a="http://schemas.openxmlformats.org/drawingml/2006/main" w="0">
            <a:solidFill>
              <a:srgbClr val="C90C0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939672-3528-4BAB-AF29-750EAD28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-219075"/>
            <a:ext cx="90582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B0C"/>
          </a:solidFill>
          <a:ln xmlns:a="http://schemas.openxmlformats.org/drawingml/2006/main" w="0">
            <a:solidFill>
              <a:srgbClr val="EA5B0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543EF-55DA-4A64-AD25-60B3AEB2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1975" y="-219075"/>
            <a:ext cx="91821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2585"/>
          </a:solidFill>
          <a:ln xmlns:a="http://schemas.openxmlformats.org/drawingml/2006/main" w="0">
            <a:solidFill>
              <a:srgbClr val="B825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07CBC-359C-4721-AF4F-88649767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742950"/>
            <a:ext cx="1762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>
              <a:spcAft>
                <a:spcPts val="0"/>
              </a:spcAft>
              <a:buNone/>
            </a:pPr>
            <a:r>
              <a:rPr sz="645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Non-Intrusive Load Monitoring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645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with Harmonic Feature Fusion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645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and Live On-the-Go Learning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D4553-F409-4BF7-BAF5-20A15724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4375" y="1066800"/>
            <a:ext cx="9286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35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Modeling, Simulation and Automation of Electrical Energy Systems</a:t>
            </a:r>
          </a:p>
          <a:p xmlns:a="http://schemas.openxmlformats.org/drawingml/2006/main">
            <a:pPr algn="r">
              <a:buNone/>
              <a:defRPr sz="35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 Koeln | Soheil Ayati, Marc Steffgen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EA4EB6-686A-4DBE-BD20-3EE5FCBC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95750"/>
            <a:ext cx="2752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0" i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 complete laboratory NILM workflow: physics-aware aggregation, one PAC4200 meter, synthetic and measured ground truth, a deployable Random Forest mix model, residual-aware live inference, and training-on-the-go for unknown devices.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65EB80-CAAF-45E6-8F2C-97E2413D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5780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00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00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we built it</a:t>
            </a:r>
          </a:p>
        </p:txBody>
      </p:sp>
      <p:cxnSp>
        <p:nvCxnSpPr>
          <p:cNvPr id="213" name=""/>
          <p:cNvCxnSpPr/>
          <p:nvPr/>
        </p:nvCxnSpPr>
        <p:spPr>
          <a:xfrm xmlns:a="http://schemas.openxmlformats.org/drawingml/2006/main">
            <a:off x="1485900" y="6076950"/>
            <a:ext cx="8591550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C90C0F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41798C-BF5B-4ABA-95F5-25A27ADF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477000"/>
            <a:ext cx="87630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NILM estimates appliance activity from one aggregate measurement at the point of common coupling.</a:t>
            </a:r>
          </a:p>
          <a:p xmlns:a="http://schemas.openxmlformats.org/drawingml/2006/main">
            <a:pPr algn="l">
              <a:buNone/>
              <a:defRPr sz="26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practical challenge is overlap: several devices run at once, similar loads share the same P range, and PV can mask consumption by driving signed power toward zero.</a:t>
            </a:r>
          </a:p>
          <a:p xmlns:a="http://schemas.openxmlformats.org/drawingml/2006/main">
            <a:pPr algn="l">
              <a:buNone/>
              <a:defRPr sz="26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project therefore uses every measurable low-frequency signature: active/reactive power, power factor, THD, per-order harmonics and switching edges.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3E6ACC-6316-48EF-BEB9-C87DB70D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1049000"/>
            <a:ext cx="2000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C90C0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1272D2-3BB4-4004-807A-A226FEC9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1220450"/>
            <a:ext cx="1657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Loads</a:t>
            </a:r>
          </a:p>
          <a:p xmlns:a="http://schemas.openxmlformats.org/drawingml/2006/main">
            <a:pPr algn="ctr">
              <a:buNone/>
              <a:defRPr sz="2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+ PV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97A504-64A0-4B7E-82A2-13173CD98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049000"/>
            <a:ext cx="2000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EA5B0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755C43-1967-48FF-9CEA-0282595F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1220450"/>
            <a:ext cx="1657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PAC4200</a:t>
            </a:r>
          </a:p>
          <a:p xmlns:a="http://schemas.openxmlformats.org/drawingml/2006/main">
            <a:pPr algn="ctr">
              <a:buNone/>
              <a:defRPr sz="2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 Hz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0683E1-3A5D-46E2-A0B6-674E0A7C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1049000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B8258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50A150-6101-4062-9F57-DF927C84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1220450"/>
            <a:ext cx="1752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NILM</a:t>
            </a:r>
          </a:p>
          <a:p xmlns:a="http://schemas.openxmlformats.org/drawingml/2006/main">
            <a:pPr algn="ctr">
              <a:buNone/>
              <a:defRPr sz="2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 + watts?</a:t>
            </a:r>
          </a:p>
        </p:txBody>
      </p:sp>
      <p:cxnSp>
        <p:nvCxnSpPr>
          <p:cNvPr id="221" name=""/>
          <p:cNvCxnSpPr/>
          <p:nvPr/>
        </p:nvCxnSpPr>
        <p:spPr>
          <a:xfrm xmlns:a="http://schemas.openxmlformats.org/drawingml/2006/main">
            <a:off x="3810000" y="1162050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666666"/>
            </a:solidFill>
            <a:prstDash val="solid"/>
          </a:ln>
        </p:spPr>
      </p:cxnSp>
      <p:cxnSp>
        <p:nvCxnSpPr>
          <p:cNvPr id="222" name=""/>
          <p:cNvCxnSpPr/>
          <p:nvPr/>
        </p:nvCxnSpPr>
        <p:spPr>
          <a:xfrm xmlns:a="http://schemas.openxmlformats.org/drawingml/2006/main">
            <a:off x="6810375" y="1162050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666666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5668C5-18D0-4B3D-BEB1-AA3C3DC2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23825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Figure 1: Single-meter NILM objective under overlapping loads and PV-aware signed power.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F550F5-3AD7-4D2F-B134-D9732BF9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3668375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00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00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and data path</a:t>
            </a:r>
          </a:p>
        </p:txBody>
      </p:sp>
      <p:cxnSp>
        <p:nvCxnSpPr>
          <p:cNvPr id="225" name=""/>
          <p:cNvCxnSpPr/>
          <p:nvPr/>
        </p:nvCxnSpPr>
        <p:spPr>
          <a:xfrm xmlns:a="http://schemas.openxmlformats.org/drawingml/2006/main">
            <a:off x="1485900" y="14487525"/>
            <a:ext cx="8591550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C90C0F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97FEF3-0D3F-4719-8201-5E38053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4859000"/>
            <a:ext cx="87630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Synthetic generator: fridge, resistive load, hair dryer, PC, washing machine, EV charging, PV, synchronous machine and baseload; exact per-sample ground truth.</a:t>
            </a:r>
          </a:p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Aggregator: builds the PCC signal by phase-wise P/Q summation, signed PV power and complex vector summation of harmonic currents, so cancellation and reinforcement remain representable.</a:t>
            </a:r>
          </a:p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Measured scenario mixer: loops isolated PAC4200 recordings with random ON/OFF schedules into labelled multi-device mixes, preserving real signatures while keeping ground truth.</a:t>
            </a:r>
          </a:p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Common pipeline: HDF5 storage, preprocessing, feature extraction, training and live inference use the same source-agnostic path.</a:t>
            </a:r>
          </a:p>
        </p:txBody>
      </p:sp>
      <p:pic>
        <p:nvPicPr>
          <p:cNvPr id="2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07d1dd2ec8463c"/>
          <a:stretch xmlns:a="http://schemas.openxmlformats.org/drawingml/2006/main"/>
        </p:blipFill>
        <p:spPr>
          <a:xfrm xmlns:a="http://schemas.openxmlformats.org/drawingml/2006/main">
            <a:off x="1604323" y="20650200"/>
            <a:ext cx="8411854" cy="581025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7BA3F6-B724-4A19-9604-4461B51F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50950"/>
            <a:ext cx="8763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Figure 2: Paper Fig. 2(b): 24 h PCC aggregate and hidden per-appliance ground truth; the model sees only the aggregate signal.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741E8B-5BAE-4302-88C7-479632A2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25780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00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00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Implementation focus</a:t>
            </a:r>
          </a:p>
        </p:txBody>
      </p:sp>
      <p:cxnSp>
        <p:nvCxnSpPr>
          <p:cNvPr id="230" name=""/>
          <p:cNvCxnSpPr/>
          <p:nvPr/>
        </p:nvCxnSpPr>
        <p:spPr>
          <a:xfrm xmlns:a="http://schemas.openxmlformats.org/drawingml/2006/main">
            <a:off x="10725150" y="6076950"/>
            <a:ext cx="8591550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EA5B0C"/>
            </a:solidFill>
            <a:prstDash val="solid"/>
          </a:ln>
        </p:spPr>
      </p:cxnSp>
      <p:pic>
        <p:nvPicPr>
          <p:cNvPr id="2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32027de1e4720"/>
          <a:srcRect xmlns:a="http://schemas.openxmlformats.org/drawingml/2006/main" l="0" t="1295" r="0" b="12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10875" y="6572250"/>
            <a:ext cx="8477250" cy="4810125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B35BF7-FC76-4AB5-820B-BD943689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11477625"/>
            <a:ext cx="847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Figure 3: Live dashboard: current devices, confidence, residual, per-device power and edge events.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F56432-EA3E-4E8A-9AB9-E1FB2EF2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049125"/>
            <a:ext cx="8763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system is intentionally source-agnostic: after acquisition, synthetic scenarios, measured single-device recordings and semi-synthetic measured mixes enter the same loader, feature builder, training code and inference path.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6EBADA-5DF7-4EF2-A457-8E021D79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42684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Random Forest mix model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958822-351E-452F-BE6A-401C403C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5068550"/>
            <a:ext cx="8763000" cy="504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mix model has two linked tasks in each 10 s aggregate window: presence detection decides which of the seven device families are ON, and power regression estimates watts for the active labels.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Presence gates the power output, so a device contributes to the stacked estimate only when the classifier marks it active; this keeps small residuals visible instead of spreading them across known loads.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RF uses tabular physical features: P/Q/S statistics, Q/P, PF, THD_I, L1-L3 active power, file-relative hour and settled P/Q edge features.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RF: robust on small measured datasets, fast enough for teach-loop retraining, and transparent enough to debug feature behavior, device vocabulary and model metrics.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755D17-5BA0-4A4A-A042-48C85E75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08788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Edge detection in detail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842CC8-CB6D-400E-9827-ED6F802A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564600"/>
            <a:ext cx="87630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live engine scans recent P/Q samples and compares settled medians before and after the strongest jump.</a:t>
            </a:r>
          </a:p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Edges count only above thresholds (about 8 W or 16 var), after quiet-state checks and a debounce interval.</a:t>
            </a:r>
          </a:p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Matched edges claim devices ON/OFF with timestamps; the RF window model supplies the steady-state presence and power estimate.</a:t>
            </a:r>
          </a:p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power is deliberately left visible. Sustained unexplained power triggers the unknown-device teaching workflow instead of forcing a wrong known label.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16A9B5-A406-49A4-9357-9A9D303D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5860375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Training-on-the-go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AA019A-D298-4ED8-975E-311C0A66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574750"/>
            <a:ext cx="87630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Unknown residual appears in the live dashboard.</a:t>
            </a:r>
          </a:p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User names the device and records an isolated OFF-ON-OFF sequence.</a:t>
            </a:r>
          </a:p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Measured scenarios are rebuilt automatically.</a:t>
            </a:r>
          </a:p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 Mix and identify models retrain in the background and hot-reload.</a:t>
            </a:r>
          </a:p>
          <a:p xmlns:a="http://schemas.openxmlformats.org/drawingml/2006/main">
            <a:pPr algn="l"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 New device vocabulary is stored in the model bundle; no code change is required.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F02DB0-9D93-4D16-BA64-E4562251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525780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00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00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Results and limits</a:t>
            </a:r>
          </a:p>
        </p:txBody>
      </p:sp>
      <p:cxnSp>
        <p:nvCxnSpPr>
          <p:cNvPr id="241" name=""/>
          <p:cNvCxnSpPr/>
          <p:nvPr/>
        </p:nvCxnSpPr>
        <p:spPr>
          <a:xfrm xmlns:a="http://schemas.openxmlformats.org/drawingml/2006/main">
            <a:off x="19964400" y="6076950"/>
            <a:ext cx="8591550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B82585"/>
            </a:solidFill>
            <a:prstDash val="solid"/>
          </a:ln>
        </p:spPr>
      </p:cxn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21214E-9517-4CEA-93AC-EC18CDD9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6572250"/>
            <a:ext cx="271462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B8258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7EE3AD-FB7C-4875-8D06-E1C35EDE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6572250"/>
            <a:ext cx="2095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2585"/>
          </a:solidFill>
          <a:ln xmlns:a="http://schemas.openxmlformats.org/drawingml/2006/main" w="0">
            <a:solidFill>
              <a:srgbClr val="B8258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5E5291-17FB-4182-99E7-9960F424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26350" y="6800850"/>
            <a:ext cx="2047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 i="0">
                <a:solidFill>
                  <a:srgbClr val="B82585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B82585"/>
                </a:solidFill>
                <a:latin typeface="Arial"/>
                <a:ea typeface="Arial"/>
                <a:cs typeface="Arial"/>
              </a:rPr>
              <a:t>0.916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0C9B8F4-323B-4F86-9268-0078D584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5400" y="7505700"/>
            <a:ext cx="2047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Mix presence</a:t>
            </a:r>
          </a:p>
          <a:p xmlns:a="http://schemas.openxmlformats.org/drawingml/2006/main">
            <a:pPr algn="l">
              <a:buNone/>
              <a:defRPr sz="187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macro-F1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1069F0-1653-495B-B89A-366D8B87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5400" y="8143875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A5A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1920 measured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5A5A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windows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5A5A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10 s, 7 families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F7E7998-70F9-4A6F-B89F-F2517DAB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07625" y="6572250"/>
            <a:ext cx="271462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EA5B0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CCE7F6-7693-44EB-A004-95C4FACE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07625" y="6572250"/>
            <a:ext cx="2095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B0C"/>
          </a:solidFill>
          <a:ln xmlns:a="http://schemas.openxmlformats.org/drawingml/2006/main" w="0">
            <a:solidFill>
              <a:srgbClr val="EA5B0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425D1E-B3EB-4D11-95C4-C7B20A99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6725" y="6800850"/>
            <a:ext cx="2047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 i="0">
                <a:solidFill>
                  <a:srgbClr val="EA5B0C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EA5B0C"/>
                </a:solidFill>
                <a:latin typeface="Arial"/>
                <a:ea typeface="Arial"/>
                <a:cs typeface="Arial"/>
              </a:rPr>
              <a:t>2.9 W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EFE3F6-11F4-44C5-8B29-5030DAD1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5775" y="7505700"/>
            <a:ext cx="2047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Gated power</a:t>
            </a:r>
          </a:p>
          <a:p xmlns:a="http://schemas.openxmlformats.org/drawingml/2006/main">
            <a:pPr algn="l">
              <a:buNone/>
              <a:defRPr sz="187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EA5C1B-EB99-4FC7-8737-7B836F57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5775" y="8143875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A5A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Presence-gated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5A5A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watts shown in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5A5A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the dashboard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2A99B86-B9BD-4E52-93CD-450B9D3F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0" y="6572250"/>
            <a:ext cx="271462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C90C0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998743-2B78-4A44-8457-83A4C43C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0" y="6572250"/>
            <a:ext cx="2095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0C0F"/>
          </a:solidFill>
          <a:ln xmlns:a="http://schemas.openxmlformats.org/drawingml/2006/main" w="0">
            <a:solidFill>
              <a:srgbClr val="C90C0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0EAF5F-D81D-4E3D-86B1-7CC365CE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7100" y="6800850"/>
            <a:ext cx="2047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 i="0">
                <a:solidFill>
                  <a:srgbClr val="C90C0F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C90C0F"/>
                </a:solidFill>
                <a:latin typeface="Arial"/>
                <a:ea typeface="Arial"/>
                <a:cs typeface="Arial"/>
              </a:rPr>
              <a:t>0.955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0DF3682-8EF9-46CA-A36A-78796DC6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6150" y="7505700"/>
            <a:ext cx="2047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Identify</a:t>
            </a:r>
          </a:p>
          <a:p xmlns:a="http://schemas.openxmlformats.org/drawingml/2006/main">
            <a:pPr algn="l">
              <a:buNone/>
              <a:defRPr sz="187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macro-F1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A75C7F7-BCA1-47F7-A85B-B90BF028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6150" y="8143875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A5A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Real active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5A5A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windows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5A5A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row split caveat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32BB013-F2B7-4B0A-97B3-55F70ACA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20050125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>
              <a:spcAft>
                <a:spcPts val="0"/>
              </a:spcAft>
              <a:buNone/>
            </a:pPr>
            <a:r>
              <a:rPr sz="142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Figure 4: Live high-load dashboard from the paper; water boiler, standing lamp and table fan are split with about 99% explained power.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26E274C-5A97-46B9-9F0B-9A616814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96202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worked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1B715E8-E831-4550-94C9-D8897138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10306050"/>
            <a:ext cx="8763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>
              <a:spcAft>
                <a:spcPts val="0"/>
              </a:spcAft>
              <a:buNone/>
            </a:pPr>
            <a:r>
              <a:rPr sz="24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End-to-end loop works: record, aggregate, train RF mix bundle, infer live, detect unknowns and retrain.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24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The RF mix model is the central deployable model: it stores feature list, device vocabulary, metrics and presence-gated power logic.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24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Live validation detected an unknown residual after 8 s, retrained in 26 s, then re-recognised the taught device with 0.95 confidence and 97.9% explained power.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24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The high-load test split about 1.44 kW into water boiler, standing lamp and table fan with about 99% explained power.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A48F634-8BD9-46EE-9D77-FA9308FD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21288375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can be improved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07FC784-11DC-4D4F-8FC1-49D2D3AA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21955125"/>
            <a:ext cx="8763000" cy="495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>
              <a:spcAft>
                <a:spcPts val="0"/>
              </a:spcAft>
              <a:buNone/>
            </a:pPr>
            <a:r>
              <a:rPr sz="24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Record real PV during actual generation; current PV recordings contain almost no generated power.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24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Measure several sessions per device and more variants of small fans, then use grouped evaluation by session.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24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Run ablations for common vs harmonic features and with/without edge features; report gains only once measured.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24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Harmonic phases are synthetic-only because the PAC4200 does not expose them over Modbus.</a:t>
            </a:r>
          </a:p>
          <a:p xmlns:a="http://schemas.openxmlformats.org/drawingml/2006/main">
            <a:pPr>
              <a:spcAft>
                <a:spcPts val="0"/>
              </a:spcAft>
              <a:buNone/>
            </a:pPr>
            <a:r>
              <a:rPr sz="247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Use CNN/LSTM or seq2point for long appliance cycles; validate true simultaneous multi-device recordings beyond semi-synthetic measured mixes.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A13F70D-9383-4C4F-AEC8-53A775B4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275272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cxnSp>
        <p:nvCxnSpPr>
          <p:cNvPr id="263" name=""/>
          <p:cNvCxnSpPr/>
          <p:nvPr/>
        </p:nvCxnSpPr>
        <p:spPr>
          <a:xfrm xmlns:a="http://schemas.openxmlformats.org/drawingml/2006/main">
            <a:off x="19983450" y="28222575"/>
            <a:ext cx="8620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E9E9E"/>
            </a:solidFill>
            <a:prstDash val="solid"/>
          </a:ln>
        </p:spPr>
      </p:cxn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66B7153-9B1C-4503-89B7-C69F81EF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28651200"/>
            <a:ext cx="8763000" cy="3857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>
              <a:spcAft>
                <a:spcPts val="0"/>
              </a:spcAft>
              <a:buNone/>
            </a:pPr>
            <a:r>
              <a:rPr sz="2700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A 5 Hz industrial power meter is enough when its processed channels are fused deliberately. The core result is the pairing of a physics-aware aggregator with a deployable RF mix model: signed power, harmonics, phase information, edge events and residual honesty become one operator-facing workflow.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15D7598-7CE1-4A31-AEB6-FEC977FB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Key implementation artifacts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0C88F4-1A1E-40FE-8041-234DDDB5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289375"/>
            <a:ext cx="8763000" cy="495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Scripts/PAC4200_reader/pac_reader.py: Modbus acquisition, dashboard, HDF5 recorder.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Scripts/Aggregator/mix_measured_scenarios.py: real recordings to labelled training mixes.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Scripts/MS2_Pipeline/nilm_pipeline.py: loaders, feature extraction and 17-feature AGG_FEATURES.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Scripts/MS2_Pipeline/train.py: RF/LGBM/MLP tasks; mix bundle stores features, devices and metrics.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Scripts/MS2_Pipeline/live.py: live inference, edge claims, residual monitor and teach/retrain loop.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1287FA2-7C4A-495F-AD00-F7365FC8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1194375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Evaluation protocol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E02B851-597E-4EFC-A5C1-E95FFFB5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1908750"/>
            <a:ext cx="876300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Mix model: 1920 measured-scenario windows, 10 s windows, 5 W ON threshold and seven-device vocabulary.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Held-out F1 and MAE travel with the model bundle; the dashboard shows presence-gated watts.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Identify score uses 171 active real-device windows and a stratified row split, so it is an optimistic within-session estimate.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Leakage-free grouped evaluation needs repeated recording sessions; semi-synthetic measured mixes preserve real signatures but only partially test simultaneous interactions.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3DCF0F8-F5BA-447E-99FE-B58DA58E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604700"/>
            <a:ext cx="876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75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cxnSp>
        <p:nvCxnSpPr>
          <p:cNvPr id="270" name=""/>
          <p:cNvCxnSpPr/>
          <p:nvPr/>
        </p:nvCxnSpPr>
        <p:spPr>
          <a:xfrm xmlns:a="http://schemas.openxmlformats.org/drawingml/2006/main">
            <a:off x="1428750" y="38271450"/>
            <a:ext cx="876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E9E9E"/>
            </a:solidFill>
            <a:prstDash val="solid"/>
          </a:ln>
        </p:spPr>
      </p:cxn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C27BDCE-D2C2-4C82-A2FD-46034FB8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576250"/>
            <a:ext cx="183832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>
              <a:spcAft>
                <a:spcPts val="0"/>
              </a:spcAft>
              <a:buNone/>
            </a:pPr>
            <a:r>
              <a:rPr sz="1725" b="0">
                <a:solidFill>
                  <a:srgbClr val="000000"/>
                </a:solidFill>
                <a:latin typeface="Aptos"/>
                <a:ea typeface="Aptos"/>
                <a:cs typeface="Aptos"/>
              </a:rPr>
              <a:t>Hart (1992) on NILM; Reddy et al. (2020) and Papageorgiou et al. (2022) on feature fusion and harmonic NILM; Siemens SENTRON PAC4200 system manual; project paper and repository artifacts.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816ED96-47DD-4C86-B95C-27CB180E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0" y="38576250"/>
            <a:ext cx="8763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5A5A5A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Poster focus: paper-grounded summary plus reflection on the two central engineering pieces: physics-aware aggregation and the RF presence/power mix model.</a:t>
            </a:r>
          </a:p>
        </p:txBody>
      </p:sp>
      <p:pic>
        <p:nvPicPr>
          <p:cNvPr id="273" name="Live test high-load dashboard screensho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4398f10361443d"/>
          <a:srcRect xmlns:a="http://schemas.openxmlformats.org/drawingml/2006/main" l="0" t="8300" r="0" b="83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907250" y="14906625"/>
            <a:ext cx="8763000" cy="495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4338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2026-07-15T11:12:42.0790000Z</dcterms:created>
  <dcterms:modified xsi:type="dcterms:W3CDTF">2026-07-15T11:12:42.0790000Z</dcterms:modified>
</coreProperties>
</file>