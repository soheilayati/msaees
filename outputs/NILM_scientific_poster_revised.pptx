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7c23ad655743f3" /><Relationship Type="http://schemas.openxmlformats.org/officeDocument/2006/relationships/extended-properties" Target="/docProps/app.xml" Id="R18bcbed7ac0f4e62" /><Relationship Type="http://schemas.openxmlformats.org/officeDocument/2006/relationships/officeDocument" Target="/ppt/presentation.xml" Id="R47abccf2d8c045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fc15f870304e30"/>
  </p:sldMasterIdLst>
  <p:notesMasterIdLst>
    <p:notesMasterId xmlns:r="http://schemas.openxmlformats.org/officeDocument/2006/relationships" r:id="Rad58833cd82945a9"/>
  </p:notesMasterIdLst>
  <p:sldIdLst>
    <p:sldId xmlns:r="http://schemas.openxmlformats.org/officeDocument/2006/relationships" id="256" r:id="R85e761fbf721438b"/>
  </p:sldIdLst>
  <p:sldSz cx="30279975" cy="4280849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68f56855b4358" /><Relationship Type="http://schemas.openxmlformats.org/officeDocument/2006/relationships/slideMaster" Target="/ppt/slideMasters/slideMaster1.xml" Id="R02fc15f870304e30" /><Relationship Type="http://schemas.openxmlformats.org/officeDocument/2006/relationships/notesMaster" Target="/ppt/notesMasters/notesMaster1.xml" Id="Rad58833cd82945a9" /><Relationship Type="http://schemas.openxmlformats.org/officeDocument/2006/relationships/presProps" Target="/ppt/presProps.xml" Id="Rbbb2b14055ec40c4" /><Relationship Type="http://schemas.openxmlformats.org/officeDocument/2006/relationships/tableStyles" Target="/ppt/tableStyles.xml" Id="R48327ba9edef4704" /><Relationship Type="http://schemas.openxmlformats.org/officeDocument/2006/relationships/slide" Target="/ppt/slides/slide1.xml" Id="R85e761fbf72143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35e9a6a8f44d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7b613586394169" /><Relationship Type="http://schemas.openxmlformats.org/officeDocument/2006/relationships/notesMaster" Target="/ppt/notesMasters/notesMaster1.xml" Id="Rd96b9d461298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6434c6aa344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76dbf738e4ad3" /><Relationship Type="http://schemas.openxmlformats.org/officeDocument/2006/relationships/slideLayout" Target="/ppt/slideLayouts/slideLayout1.xml" Id="R74a95d2a985a4a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a95d2a985a4a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576802b334178" /><Relationship Type="http://schemas.openxmlformats.org/officeDocument/2006/relationships/image" Target="/ppt/media/image.png" Id="Raad149e5aebe49a2" /><Relationship Type="http://schemas.openxmlformats.org/officeDocument/2006/relationships/image" Target="/ppt/media/image.jpeg" Id="R37239d7819d7415a" /><Relationship Type="http://schemas.openxmlformats.org/officeDocument/2006/relationships/image" Target="/ppt/media/image2.jpeg" Id="Rc0b5312d1d414e76" /><Relationship Type="http://schemas.openxmlformats.org/officeDocument/2006/relationships/notesSlide" Target="/ppt/notesSlides/notesSlide1.xml" Id="R3386be6be55242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99651-CFDF-4D36-9AFF-1B8EF114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-219075"/>
            <a:ext cx="90582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C0F"/>
          </a:solidFill>
          <a:ln xmlns:a="http://schemas.openxmlformats.org/drawingml/2006/main" w="0">
            <a:solidFill>
              <a:srgbClr val="C90C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39672-3528-4BAB-AF29-750EAD28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-219075"/>
            <a:ext cx="90582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B0C"/>
          </a:solidFill>
          <a:ln xmlns:a="http://schemas.openxmlformats.org/drawingml/2006/main" w="0">
            <a:solidFill>
              <a:srgbClr val="EA5B0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543EF-55DA-4A64-AD25-60B3AEB2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1975" y="-219075"/>
            <a:ext cx="9182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2585"/>
          </a:solidFill>
          <a:ln xmlns:a="http://schemas.openxmlformats.org/drawingml/2006/main" w="0">
            <a:solidFill>
              <a:srgbClr val="B825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7CBC-359C-4721-AF4F-8864976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42950"/>
            <a:ext cx="1762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64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Non-Intrusive Load Monitoring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64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with Harmonic Feature Fusion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64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and Live On-the-Go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D4553-F409-4BF7-BAF5-20A15724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75" y="1066800"/>
            <a:ext cx="928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35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Modeling, Simulation and Automation of Electrical Energy Systems</a:t>
            </a:r>
          </a:p>
          <a:p xmlns:a="http://schemas.openxmlformats.org/drawingml/2006/main">
            <a:pPr algn="r">
              <a:buNone/>
              <a:defRPr sz="35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 Koeln | Soheil Ayati, Marc Steffgen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A4EB6-686A-4DBE-BD20-3EE5FCB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752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complete laboratory NILM workflow: PAC4200 acquisition, HDF5 ground-truth scenarios, physics-aware PCC aggregation, a deployable Random Forest presence/power mix model, residual-aware live inference, and guided retraining for unknown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5EB80-CAAF-45E6-8F2C-97E2413D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we built it</a:t>
            </a:r>
          </a:p>
        </p:txBody>
      </p:sp>
      <p:cxnSp>
        <p:nvCxnSpPr>
          <p:cNvPr id="893" name=""/>
          <p:cNvCxnSpPr/>
          <p:nvPr/>
        </p:nvCxnSpPr>
        <p:spPr>
          <a:xfrm xmlns:a="http://schemas.openxmlformats.org/drawingml/2006/main">
            <a:off x="148590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90C0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1798C-BF5B-4ABA-95F5-25A27AD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77000"/>
            <a:ext cx="876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NILM estimates appliance activity from one aggregate measurement at the point of common coupling.</a:t>
            </a:r>
          </a:p>
          <a:p xmlns:a="http://schemas.openxmlformats.org/drawingml/2006/main">
            <a:pPr algn="l">
              <a:buNone/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practical challenge is overlap: several devices run at once, similar loads share the same P range, and PV can mask consumption by driving signed power toward zero.</a:t>
            </a:r>
          </a:p>
          <a:p xmlns:a="http://schemas.openxmlformats.org/drawingml/2006/main">
            <a:pPr algn="l">
              <a:buNone/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project therefore uses every measurable low-frequency signature: active/reactive power, power factor, THD, per-order harmonics and switching edges.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E6ACC-6316-48EF-BEB9-C87DB70D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0490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0C0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272D2-3BB4-4004-807A-A226FEC9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1220450"/>
            <a:ext cx="1657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Loads</a:t>
            </a:r>
          </a:p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 PV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7A504-64A0-4B7E-82A2-13173CD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0490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A5B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55C43-1967-48FF-9CEA-0282595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1220450"/>
            <a:ext cx="1657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PAC4200</a:t>
            </a:r>
          </a:p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683E1-3A5D-46E2-A0B6-674E0A7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490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25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0A150-6101-4062-9F57-DF927C84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2204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NILM</a:t>
            </a:r>
          </a:p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+ watts?</a:t>
            </a:r>
          </a:p>
        </p:txBody>
      </p:sp>
      <p:cxnSp>
        <p:nvCxnSpPr>
          <p:cNvPr id="901" name=""/>
          <p:cNvCxnSpPr/>
          <p:nvPr/>
        </p:nvCxnSpPr>
        <p:spPr>
          <a:xfrm xmlns:a="http://schemas.openxmlformats.org/drawingml/2006/main">
            <a:off x="3810000" y="11620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66666"/>
            </a:solidFill>
            <a:prstDash val="solid"/>
          </a:ln>
        </p:spPr>
      </p:cxnSp>
      <p:cxnSp>
        <p:nvCxnSpPr>
          <p:cNvPr id="902" name=""/>
          <p:cNvCxnSpPr/>
          <p:nvPr/>
        </p:nvCxnSpPr>
        <p:spPr>
          <a:xfrm xmlns:a="http://schemas.openxmlformats.org/drawingml/2006/main">
            <a:off x="6810375" y="11620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6666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668C5-18D0-4B3D-BEB1-AA3C3DC2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3825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1: Single-meter NILM objective under overlapping loads and PV-aware signed power.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550F5-3AD7-4D2F-B134-D9732BF9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668375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Aggregation and data path</a:t>
            </a:r>
          </a:p>
        </p:txBody>
      </p:sp>
      <p:cxnSp>
        <p:nvCxnSpPr>
          <p:cNvPr id="905" name=""/>
          <p:cNvCxnSpPr/>
          <p:nvPr/>
        </p:nvCxnSpPr>
        <p:spPr>
          <a:xfrm xmlns:a="http://schemas.openxmlformats.org/drawingml/2006/main">
            <a:off x="1485900" y="14487525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90C0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7FEF3-0D3F-4719-8201-5E38053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859000"/>
            <a:ext cx="8763000" cy="828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sources are normalized to one HDF5 layout: UTC microsecond timestamps, float32 measurement channels, metadata and optional ground truth, LZF-compressed for long recordings.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traces provide exact per-sample P/Q/state labels; measured PAC4200 single-device recordings provide real signatures; the mixer loops measured recordings into labelled multi-device scenarios.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aggregator forms the PCC signal physically: single-phase loads land on L1-L3, balanced devices are split, signed PV can drive net P below zero, and totals P/Q/S/PF/THD are recomputed.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harmonics are summed as complex vectors per phase for orders 2..40, then stored as magnitude/phase; this preserves cancellation/reinforcement that magnitude addition would destroy.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PAC4200 harmonics come from Modbus FC 0x14 file records (L1 current file 113 verified); real harmonic phases are unavailable and marked as such.</a:t>
            </a:r>
          </a:p>
        </p:txBody>
      </p:sp>
      <p:pic>
        <p:nvPicPr>
          <p:cNvPr id="9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149e5aebe49a2"/>
          <a:stretch xmlns:a="http://schemas.openxmlformats.org/drawingml/2006/main"/>
        </p:blipFill>
        <p:spPr>
          <a:xfrm xmlns:a="http://schemas.openxmlformats.org/drawingml/2006/main">
            <a:off x="1428750" y="23907750"/>
            <a:ext cx="8763000" cy="49530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BA3F6-B724-4A19-9604-4461B51F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03625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2: Paper Fig. 2(b): 24 h PCC aggregate and hidden per-appliance ground truth; the model sees only the aggregate signal.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41E8B-5BAE-4302-88C7-479632A2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 focus</a:t>
            </a:r>
          </a:p>
        </p:txBody>
      </p:sp>
      <p:cxnSp>
        <p:nvCxnSpPr>
          <p:cNvPr id="910" name=""/>
          <p:cNvCxnSpPr/>
          <p:nvPr/>
        </p:nvCxnSpPr>
        <p:spPr>
          <a:xfrm xmlns:a="http://schemas.openxmlformats.org/drawingml/2006/main">
            <a:off x="1072515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A5B0C"/>
            </a:solidFill>
            <a:prstDash val="solid"/>
          </a:ln>
        </p:spPr>
      </p:cxnSp>
      <p:pic>
        <p:nvPicPr>
          <p:cNvPr id="9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39d7819d7415a"/>
          <a:srcRect xmlns:a="http://schemas.openxmlformats.org/drawingml/2006/main" l="0" t="1295" r="0" b="1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10875" y="6572250"/>
            <a:ext cx="8477250" cy="48101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35BF7-FC76-4AB5-820B-BD943689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1477625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3: Live dashboard: current devices, confidence, residual, per-device power and edge events.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56432-EA3E-4E8A-9AB9-E1FB2EF2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04912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system is intentionally source-agnostic: after acquisition, synthetic scenarios, measured single-device recordings and semi-synthetic measured mixes enter the same loader, feature builder, training code and inference path.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EBADA-5DF7-4EF2-A457-8E021D7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42684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Random Forest mix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58822-351E-452F-BE6A-401C403C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049500"/>
            <a:ext cx="87630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mix model answers two questions per 10 s aggregate window: which appliances are ON and how many watts each one contributes.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Presence is a MultiOutput RandomForestClassifier; power is a MultiOutputRegressor with one RF regressor per appliance family.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 inference, presence gates watts (OFF -&gt; 0 W), so the dashboard reports plausible device power and leaves the rest as residual.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Its 17 features combine steady-state power, phase split, harmonics, context and event cues; the bundle stores the exact feature contract for live slicing.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RF: robust on small measured datasets, fast enough for teach-loop retraining, and transparent enough to debug features, vocabulary and metrics.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755D17-5BA0-4A4A-A042-48C85E75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5270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 detection in detail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42CC8-CB6D-400E-9827-ED6F802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212800"/>
            <a:ext cx="8763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Edges are computed from raw live P/Q samples before the 10 s RF window has fully settled.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the last 8 s, the detector compares settled pre/post medians, rejects noisy states and emits dP, dQ and timestamp.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matched ON edge claims the device with its own watt step; a matched OFF edge releases it, so the UI reacts immediately.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RF presence probabilities are median-smoothed and passed through hysteresis (about 0.55 ON / 0.45 OFF); final state merges RF predictions, edge claims and residual power.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6A9B5-A406-49A4-9357-9A9D303D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859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Training-on-the-go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A019A-D298-4ED8-975E-311C0A6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545550"/>
            <a:ext cx="8763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monitor flags unexplained power above max(30 W, 15% of total) for 8 s.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UI then asks for a device name and records OFF baseline, isolated ON operation and OFF tail, giving the new label one clean signature.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scenarios are rebuilt; mix and identify bundles retrain in the background, then the live engine hot-reloads the bundle.</a:t>
            </a:r>
          </a:p>
          <a:p xmlns:a="http://schemas.openxmlformats.org/drawingml/2006/main">
            <a:pPr algn="l"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Stored feature lists preserve compatibility with older model bundles.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02DB0-9D93-4D16-BA64-E456225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52578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and limits</a:t>
            </a:r>
          </a:p>
        </p:txBody>
      </p:sp>
      <p:cxnSp>
        <p:nvCxnSpPr>
          <p:cNvPr id="921" name=""/>
          <p:cNvCxnSpPr/>
          <p:nvPr/>
        </p:nvCxnSpPr>
        <p:spPr>
          <a:xfrm xmlns:a="http://schemas.openxmlformats.org/drawingml/2006/main">
            <a:off x="19964400" y="6076950"/>
            <a:ext cx="85915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B82585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21214E-9517-4CEA-93AC-EC18CDD9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8258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7EE3AD-FB7C-4875-8D06-E1C35EDE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2585"/>
          </a:solidFill>
          <a:ln xmlns:a="http://schemas.openxmlformats.org/drawingml/2006/main" w="0">
            <a:solidFill>
              <a:srgbClr val="B825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5E5291-17FB-4182-99E7-9960F42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6350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B82585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B82585"/>
                </a:solidFill>
                <a:latin typeface="Arial"/>
                <a:ea typeface="Arial"/>
                <a:cs typeface="Arial"/>
              </a:rPr>
              <a:t>0.916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C9B8F4-323B-4F86-9268-0078D584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 presence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1069F0-1653-495B-B89A-366D8B87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1920 measured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windows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10 s, 7 families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7E7998-70F9-4A6F-B89F-F2517DAB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25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A5B0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CCE7F6-7693-44EB-A004-95C4FACE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25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B0C"/>
          </a:solidFill>
          <a:ln xmlns:a="http://schemas.openxmlformats.org/drawingml/2006/main" w="0">
            <a:solidFill>
              <a:srgbClr val="EA5B0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425D1E-B3EB-4D11-95C4-C7B20A99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25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EA5B0C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EA5B0C"/>
                </a:solidFill>
                <a:latin typeface="Arial"/>
                <a:ea typeface="Arial"/>
                <a:cs typeface="Arial"/>
              </a:rPr>
              <a:t>2.9 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EFE3F6-11F4-44C5-8B29-5030DAD1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5775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power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EA5C1B-EB99-4FC7-8737-7B836F5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5775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Presence-gated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watts shown in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the dashboard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A99B86-B9BD-4E52-93CD-450B9D3F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0" y="6572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0C0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998743-2B78-4A44-8457-83A4C43C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0" y="6572250"/>
            <a:ext cx="209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C0F"/>
          </a:solidFill>
          <a:ln xmlns:a="http://schemas.openxmlformats.org/drawingml/2006/main" w="0">
            <a:solidFill>
              <a:srgbClr val="C90C0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0EAF5F-D81D-4E3D-86B1-7CC365CE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0" y="680085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C90C0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C90C0F"/>
                </a:solidFill>
                <a:latin typeface="Arial"/>
                <a:ea typeface="Arial"/>
                <a:cs typeface="Arial"/>
              </a:rPr>
              <a:t>0.955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DF3682-8EF9-46CA-A36A-78796DC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6150" y="75057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Identify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75C7F7-BCA1-47F7-A85B-B90BF02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6150" y="814387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Real active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windows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row split caveat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2BB013-F2B7-4B0A-97B3-55F70ACA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09550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Figure 4: Live high-load dashboard from the paper; water boiler, standing lamp and table fan are split with about 99% explained power.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6E274C-5A97-46B9-9F0B-9A61681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9620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worked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B715E8-E831-4550-94C9-D889713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10306050"/>
            <a:ext cx="8763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End-to-end loop works: record, aggregate, train RF mix bundle, infer live, detect unknowns and retrain.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central technical pair is aggregator + RF mix model: the aggregator creates a physically meaningful PCC view with ground truth; the RF bundle maps 17 aggregate features to presence and watts.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Live validation detected an unknown residual after 8 s, retrained in 26 s, then re-recognised the taught device with 0.95 confidence and 97.9% explained power.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high-load test split about 1.44 kW into water boiler, standing lamp and table fan with about 99% explained power.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48F634-8BD9-46EE-9D77-FA9308F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219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can be improved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7FC784-11DC-4D4F-8FC1-49D2D3AA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2860000"/>
            <a:ext cx="876300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Record real PV during actual generation; current PV recordings contain almost no generated power.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Measure several sessions per device and more variants of small fans, then use grouped evaluation by session.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Run ablations for common vs harmonic features and with/without event features; report gains only once measured.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Harmonic phases are synthetic-only because the PAC4200 does not expose them over Modbus; transferable deployment models must avoid synthetic-only phase inputs.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Use CNN/LSTM or seq2point for long appliance cycles such as washing machines.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Validate real simultaneous multi-device physics, because measured training mixes currently loop isolated recordings with random schedules.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13F70D-9383-4C4F-AEC8-53A775B4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94132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cxnSp>
        <p:nvCxnSpPr>
          <p:cNvPr id="943" name=""/>
          <p:cNvCxnSpPr/>
          <p:nvPr/>
        </p:nvCxnSpPr>
        <p:spPr>
          <a:xfrm xmlns:a="http://schemas.openxmlformats.org/drawingml/2006/main">
            <a:off x="19983450" y="30108525"/>
            <a:ext cx="862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9E9E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6B7153-9B1C-4503-89B7-C69F81EF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30537150"/>
            <a:ext cx="876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7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Technically, the project is not just a classifier. It is a data contract plus a deployable inference loop: HDF5 scenarios carry aggregate signals and ground truth, the aggregator preserves signed power and harmonic physics, the RF mix bundle turns 17 window features into ON/OFF and watts, and the live layer adds edge timing, residual honesty and retraining.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5D7598-7CE1-4A31-AEB6-FEC977FB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implementation artifacts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0C88F4-1A1E-40FE-8041-234DDDB5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0"/>
            <a:ext cx="8763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pac_reader.py: one persistent Modbus TCP connection, 5 Hz polling, session HDF5 writer and harmonic file-record acquisition.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aggregator.py: phase allocation, signed P/Q summation, synthesized voltage/frequency, complex harmonic summation and ground-truth tensors.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mix_measured_scenarios.py: turns isolated real device recordings into labelled multi-device measured scenarios.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nilm_pipeline.py: common loaders plus 17 append-only AGG_FEATURES; model bundles store their feature list for compatible inference.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train.py/live.py: RF mix training, presence-gated power output, edge claims, residual monitor and teach/retrain hot reload.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287FA2-7C4A-495F-AD00-F7365FC8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575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02B851-597E-4EFC-A5C1-E95FFFB5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261050"/>
            <a:ext cx="876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 evaluation: 1920 measured-scenario windows, 10 s windows, 5 W ON threshold and seven-device vocabulary.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Metrics: presence macro-F1 for ON/OFF; raw power MAE is tracked, but gated MAE is the deployed dashboard number (2.9 W).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Identify: 171 active real-device windows with common plus harmonic features; row split is useful but optimistic.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Remaining risk: repeated sessions and true simultaneous recordings are needed for leakage-free validation.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DCF0F8-F5BA-447E-99FE-B58DA58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047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cxnSp>
        <p:nvCxnSpPr>
          <p:cNvPr id="950" name=""/>
          <p:cNvCxnSpPr/>
          <p:nvPr/>
        </p:nvCxnSpPr>
        <p:spPr>
          <a:xfrm xmlns:a="http://schemas.openxmlformats.org/drawingml/2006/main">
            <a:off x="1428750" y="3827145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9E9E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27BDCE-D2C2-4C82-A2FD-46034FB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0"/>
            <a:ext cx="876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Sources: project paper; Docs/01_data_format.md; Docs/09_design_rationale.md; Docs/MS3 notes; aggregator.py, nilm_pipeline.py, train.py, live.py, pac_reader.py; Hart, Reddy, Papageorgiou, Siemens PAC4200 manual.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16ED96-47DD-4C86-B95C-27CB180E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3931920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Poster focus: paper-grounded summary plus reflection on the two central engineering pieces: physics-aware aggregation and the RF presence/power mix model.</a:t>
            </a:r>
          </a:p>
        </p:txBody>
      </p:sp>
      <p:pic>
        <p:nvPicPr>
          <p:cNvPr id="953" name="Live test high-load dashboard 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5312d1d414e76"/>
          <a:srcRect xmlns:a="http://schemas.openxmlformats.org/drawingml/2006/main" l="0" t="8300" r="0" b="8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07250" y="15830550"/>
            <a:ext cx="87630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33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2026-07-15T15:58:21.1560000Z</dcterms:created>
  <dcterms:modified xsi:type="dcterms:W3CDTF">2026-07-15T15:58:21.1560000Z</dcterms:modified>
</coreProperties>
</file>