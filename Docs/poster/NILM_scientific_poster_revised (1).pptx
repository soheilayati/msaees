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1.xml" ContentType="application/vnd.openxmlformats-officedocument.presentationml.notesSlide+xml"/>
  <Override PartName="/ppt/notesSlides/_rels/notesSlide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s/slide1.xml" ContentType="application/vnd.openxmlformats-officedocument.presentationml.slide+xml"/>
  <Override PartName="/ppt/slides/_rels/slide1.xml.rels" ContentType="application/vnd.openxmlformats-package.relationships+xml"/>
  <Override PartName="/ppt/media/image1.png" ContentType="image/png"/>
  <Override PartName="/ppt/media/image2.jpeg" ContentType="image/jpeg"/>
  <Override PartName="/ppt/media/image3.png" ContentType="image/png"/>
  <Override PartName="/ppt/media/image4.png" ContentType="image/png"/>
  <Override PartName="/ppt/media/image5.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Lst>
  <p:sldSz cx="30279975" cy="42808525"/>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rgbClr val="000000"/>
                </a:solidFill>
                <a:latin typeface="Calibri"/>
              </a:rPr>
              <a:t>Folie mittels Klicken verschieben</a:t>
            </a:r>
            <a:endParaRPr b="0" lang="en-US" sz="1800" spc="-1" strike="noStrike">
              <a:solidFill>
                <a:srgbClr val="000000"/>
              </a:solidFill>
              <a:latin typeface="Calibri"/>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de-DE" sz="2000" spc="-1" strike="noStrike">
                <a:latin typeface="Arial"/>
              </a:rPr>
              <a:t>Format der Notizen mittels Klicken bearbeiten</a:t>
            </a:r>
            <a:endParaRPr b="0" lang="de-DE"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de-DE" sz="1400" spc="-1" strike="noStrike">
                <a:latin typeface="Times New Roman"/>
              </a:rPr>
              <a:t>&lt;Kopfzeile&gt;</a:t>
            </a:r>
            <a:endParaRPr b="0" lang="de-DE"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de-DE" sz="1400" spc="-1" strike="noStrike">
                <a:latin typeface="Times New Roman"/>
              </a:defRPr>
            </a:lvl1pPr>
          </a:lstStyle>
          <a:p>
            <a:pPr algn="r">
              <a:buNone/>
            </a:pPr>
            <a:r>
              <a:rPr b="0" lang="de-DE" sz="1400" spc="-1" strike="noStrike">
                <a:latin typeface="Times New Roman"/>
              </a:rPr>
              <a:t>&lt;Datum/Uhrzeit&gt;</a:t>
            </a:r>
            <a:endParaRPr b="0" lang="de-DE"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de-DE" sz="1400" spc="-1" strike="noStrike">
                <a:latin typeface="Times New Roman"/>
              </a:defRPr>
            </a:lvl1pPr>
          </a:lstStyle>
          <a:p>
            <a:r>
              <a:rPr b="0" lang="de-DE" sz="1400" spc="-1" strike="noStrike">
                <a:latin typeface="Times New Roman"/>
              </a:rPr>
              <a:t>&lt;Fußzeile&gt;</a:t>
            </a:r>
            <a:endParaRPr b="0" lang="de-DE"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de-DE" sz="1400" spc="-1" strike="noStrike">
                <a:latin typeface="Times New Roman"/>
              </a:defRPr>
            </a:lvl1pPr>
          </a:lstStyle>
          <a:p>
            <a:pPr algn="r">
              <a:buNone/>
            </a:pPr>
            <a:fld id="{AA6FE243-B069-49B1-B26D-5002AD1BFAFA}" type="slidenum">
              <a:rPr b="0" lang="de-DE" sz="1400" spc="-1" strike="noStrike">
                <a:latin typeface="Times New Roman"/>
              </a:rPr>
              <a:t>&lt;Foliennummer&gt;</a:t>
            </a:fld>
            <a:endParaRPr b="0" lang="de-DE"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0" y="0"/>
            <a:ext cx="0" cy="0"/>
          </a:xfrm>
          <a:prstGeom prst="rect">
            <a:avLst/>
          </a:prstGeom>
          <a:ln w="0">
            <a:noFill/>
          </a:ln>
        </p:spPr>
      </p:sp>
      <p:sp>
        <p:nvSpPr>
          <p:cNvPr id="118" name="PlaceHolder 2"/>
          <p:cNvSpPr>
            <a:spLocks noGrp="1"/>
          </p:cNvSpPr>
          <p:nvPr>
            <p:ph type="body"/>
          </p:nvPr>
        </p:nvSpPr>
        <p:spPr>
          <a:xfrm>
            <a:off x="0" y="0"/>
            <a:ext cx="0" cy="0"/>
          </a:xfrm>
          <a:prstGeom prst="rect">
            <a:avLst/>
          </a:prstGeom>
          <a:noFill/>
          <a:ln w="0">
            <a:noFill/>
          </a:ln>
        </p:spPr>
        <p:txBody>
          <a:bodyPr lIns="90000" rIns="90000" tIns="90000" bIns="90000" anchor="t">
            <a:noAutofit/>
          </a:bodyPr>
          <a:p>
            <a:endParaRPr b="0" lang="de-DE" sz="2000" spc="-1" strike="noStrike">
              <a:latin typeface="Arial"/>
            </a:endParaRPr>
          </a:p>
        </p:txBody>
      </p:sp>
      <p:sp>
        <p:nvSpPr>
          <p:cNvPr id="119" name="PlaceHolder 3"/>
          <p:cNvSpPr>
            <a:spLocks noGrp="1"/>
          </p:cNvSpPr>
          <p:nvPr>
            <p:ph type="sldNum" idx="4"/>
          </p:nvPr>
        </p:nvSpPr>
        <p:spPr>
          <a:xfrm>
            <a:off x="0" y="0"/>
            <a:ext cx="0" cy="0"/>
          </a:xfrm>
          <a:prstGeom prst="rect">
            <a:avLst/>
          </a:prstGeom>
          <a:noFill/>
          <a:ln w="0">
            <a:noFill/>
          </a:ln>
        </p:spPr>
        <p:txBody>
          <a:bodyPr lIns="90000" rIns="90000" tIns="90000" bIns="90000" anchor="t">
            <a:noAutofit/>
          </a:bodyPr>
          <a:lstStyle>
            <a:lvl1pPr>
              <a:defRPr b="0" lang="de-DE" sz="2400" spc="-1" strike="noStrike">
                <a:latin typeface="Times New Roman"/>
              </a:defRPr>
            </a:lvl1pPr>
          </a:lstStyle>
          <a:p>
            <a:endParaRPr b="0" lang="de-DE" sz="24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subTitle"/>
          </p:nvPr>
        </p:nvSpPr>
        <p:spPr>
          <a:xfrm>
            <a:off x="1513800" y="10017000"/>
            <a:ext cx="27251280" cy="24828480"/>
          </a:xfrm>
          <a:prstGeom prst="rect">
            <a:avLst/>
          </a:prstGeom>
          <a:noFill/>
          <a:ln w="0">
            <a:noFill/>
          </a:ln>
        </p:spPr>
        <p:txBody>
          <a:bodyPr lIns="0" rIns="0" tIns="0" bIns="0" anchor="ctr">
            <a:noAutofit/>
          </a:bodyPr>
          <a:p>
            <a:pPr algn="ctr">
              <a:buNone/>
            </a:pPr>
            <a:endParaRPr b="0" lang="de-DE"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 name="PlaceHolder 2"/>
          <p:cNvSpPr>
            <a:spLocks noGrp="1"/>
          </p:cNvSpPr>
          <p:nvPr>
            <p:ph/>
          </p:nvPr>
        </p:nvSpPr>
        <p:spPr>
          <a:xfrm>
            <a:off x="1513800" y="10017000"/>
            <a:ext cx="27251280" cy="248284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 name="PlaceHolder 2"/>
          <p:cNvSpPr>
            <a:spLocks noGrp="1"/>
          </p:cNvSpPr>
          <p:nvPr>
            <p:ph/>
          </p:nvPr>
        </p:nvSpPr>
        <p:spPr>
          <a:xfrm>
            <a:off x="1513800" y="10017000"/>
            <a:ext cx="13298400" cy="248284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8" name="PlaceHolder 3"/>
          <p:cNvSpPr>
            <a:spLocks noGrp="1"/>
          </p:cNvSpPr>
          <p:nvPr>
            <p:ph/>
          </p:nvPr>
        </p:nvSpPr>
        <p:spPr>
          <a:xfrm>
            <a:off x="15477480" y="10017000"/>
            <a:ext cx="13298400" cy="248284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1513800" y="1707840"/>
            <a:ext cx="27251280" cy="33137640"/>
          </a:xfrm>
          <a:prstGeom prst="rect">
            <a:avLst/>
          </a:prstGeom>
          <a:noFill/>
          <a:ln w="0">
            <a:noFill/>
          </a:ln>
        </p:spPr>
        <p:txBody>
          <a:bodyPr lIns="0" rIns="0" tIns="0" bIns="0" anchor="ctr">
            <a:noAutofit/>
          </a:bodyPr>
          <a:p>
            <a:pPr algn="ctr">
              <a:buNone/>
            </a:pPr>
            <a:endParaRPr b="0" lang="de-DE"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2" name="PlaceHolder 2"/>
          <p:cNvSpPr>
            <a:spLocks noGrp="1"/>
          </p:cNvSpPr>
          <p:nvPr>
            <p:ph/>
          </p:nvPr>
        </p:nvSpPr>
        <p:spPr>
          <a:xfrm>
            <a:off x="1513800" y="10017000"/>
            <a:ext cx="1329840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3" name="PlaceHolder 3"/>
          <p:cNvSpPr>
            <a:spLocks noGrp="1"/>
          </p:cNvSpPr>
          <p:nvPr>
            <p:ph/>
          </p:nvPr>
        </p:nvSpPr>
        <p:spPr>
          <a:xfrm>
            <a:off x="15477480" y="10017000"/>
            <a:ext cx="13298400" cy="248284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4" name="PlaceHolder 4"/>
          <p:cNvSpPr>
            <a:spLocks noGrp="1"/>
          </p:cNvSpPr>
          <p:nvPr>
            <p:ph/>
          </p:nvPr>
        </p:nvSpPr>
        <p:spPr>
          <a:xfrm>
            <a:off x="1513800" y="22985280"/>
            <a:ext cx="1329840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6" name="PlaceHolder 2"/>
          <p:cNvSpPr>
            <a:spLocks noGrp="1"/>
          </p:cNvSpPr>
          <p:nvPr>
            <p:ph/>
          </p:nvPr>
        </p:nvSpPr>
        <p:spPr>
          <a:xfrm>
            <a:off x="1513800" y="10017000"/>
            <a:ext cx="13298400" cy="2482848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7" name="PlaceHolder 3"/>
          <p:cNvSpPr>
            <a:spLocks noGrp="1"/>
          </p:cNvSpPr>
          <p:nvPr>
            <p:ph/>
          </p:nvPr>
        </p:nvSpPr>
        <p:spPr>
          <a:xfrm>
            <a:off x="15477480" y="10017000"/>
            <a:ext cx="1329840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8" name="PlaceHolder 4"/>
          <p:cNvSpPr>
            <a:spLocks noGrp="1"/>
          </p:cNvSpPr>
          <p:nvPr>
            <p:ph/>
          </p:nvPr>
        </p:nvSpPr>
        <p:spPr>
          <a:xfrm>
            <a:off x="15477480" y="22985280"/>
            <a:ext cx="1329840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0" name="PlaceHolder 2"/>
          <p:cNvSpPr>
            <a:spLocks noGrp="1"/>
          </p:cNvSpPr>
          <p:nvPr>
            <p:ph/>
          </p:nvPr>
        </p:nvSpPr>
        <p:spPr>
          <a:xfrm>
            <a:off x="1513800" y="10017000"/>
            <a:ext cx="1329840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1" name="PlaceHolder 3"/>
          <p:cNvSpPr>
            <a:spLocks noGrp="1"/>
          </p:cNvSpPr>
          <p:nvPr>
            <p:ph/>
          </p:nvPr>
        </p:nvSpPr>
        <p:spPr>
          <a:xfrm>
            <a:off x="15477480" y="10017000"/>
            <a:ext cx="1329840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2" name="PlaceHolder 4"/>
          <p:cNvSpPr>
            <a:spLocks noGrp="1"/>
          </p:cNvSpPr>
          <p:nvPr>
            <p:ph/>
          </p:nvPr>
        </p:nvSpPr>
        <p:spPr>
          <a:xfrm>
            <a:off x="1513800" y="22985280"/>
            <a:ext cx="2725128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4" name="PlaceHolder 2"/>
          <p:cNvSpPr>
            <a:spLocks noGrp="1"/>
          </p:cNvSpPr>
          <p:nvPr>
            <p:ph/>
          </p:nvPr>
        </p:nvSpPr>
        <p:spPr>
          <a:xfrm>
            <a:off x="1513800" y="10017000"/>
            <a:ext cx="2725128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5" name="PlaceHolder 3"/>
          <p:cNvSpPr>
            <a:spLocks noGrp="1"/>
          </p:cNvSpPr>
          <p:nvPr>
            <p:ph/>
          </p:nvPr>
        </p:nvSpPr>
        <p:spPr>
          <a:xfrm>
            <a:off x="1513800" y="22985280"/>
            <a:ext cx="2725128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1513800" y="10017000"/>
            <a:ext cx="1329840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8" name="PlaceHolder 3"/>
          <p:cNvSpPr>
            <a:spLocks noGrp="1"/>
          </p:cNvSpPr>
          <p:nvPr>
            <p:ph/>
          </p:nvPr>
        </p:nvSpPr>
        <p:spPr>
          <a:xfrm>
            <a:off x="15477480" y="10017000"/>
            <a:ext cx="1329840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9" name="PlaceHolder 4"/>
          <p:cNvSpPr>
            <a:spLocks noGrp="1"/>
          </p:cNvSpPr>
          <p:nvPr>
            <p:ph/>
          </p:nvPr>
        </p:nvSpPr>
        <p:spPr>
          <a:xfrm>
            <a:off x="1513800" y="22985280"/>
            <a:ext cx="1329840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0" name="PlaceHolder 5"/>
          <p:cNvSpPr>
            <a:spLocks noGrp="1"/>
          </p:cNvSpPr>
          <p:nvPr>
            <p:ph/>
          </p:nvPr>
        </p:nvSpPr>
        <p:spPr>
          <a:xfrm>
            <a:off x="15477480" y="22985280"/>
            <a:ext cx="1329840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2" name="PlaceHolder 2"/>
          <p:cNvSpPr>
            <a:spLocks noGrp="1"/>
          </p:cNvSpPr>
          <p:nvPr>
            <p:ph/>
          </p:nvPr>
        </p:nvSpPr>
        <p:spPr>
          <a:xfrm>
            <a:off x="1513800" y="10017000"/>
            <a:ext cx="877464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3" name="PlaceHolder 3"/>
          <p:cNvSpPr>
            <a:spLocks noGrp="1"/>
          </p:cNvSpPr>
          <p:nvPr>
            <p:ph/>
          </p:nvPr>
        </p:nvSpPr>
        <p:spPr>
          <a:xfrm>
            <a:off x="10727640" y="10017000"/>
            <a:ext cx="877464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4" name="PlaceHolder 4"/>
          <p:cNvSpPr>
            <a:spLocks noGrp="1"/>
          </p:cNvSpPr>
          <p:nvPr>
            <p:ph/>
          </p:nvPr>
        </p:nvSpPr>
        <p:spPr>
          <a:xfrm>
            <a:off x="19941480" y="10017000"/>
            <a:ext cx="877464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5" name="PlaceHolder 5"/>
          <p:cNvSpPr>
            <a:spLocks noGrp="1"/>
          </p:cNvSpPr>
          <p:nvPr>
            <p:ph/>
          </p:nvPr>
        </p:nvSpPr>
        <p:spPr>
          <a:xfrm>
            <a:off x="1513800" y="22985280"/>
            <a:ext cx="877464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6" name="PlaceHolder 6"/>
          <p:cNvSpPr>
            <a:spLocks noGrp="1"/>
          </p:cNvSpPr>
          <p:nvPr>
            <p:ph/>
          </p:nvPr>
        </p:nvSpPr>
        <p:spPr>
          <a:xfrm>
            <a:off x="10727640" y="22985280"/>
            <a:ext cx="877464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7" name="PlaceHolder 7"/>
          <p:cNvSpPr>
            <a:spLocks noGrp="1"/>
          </p:cNvSpPr>
          <p:nvPr>
            <p:ph/>
          </p:nvPr>
        </p:nvSpPr>
        <p:spPr>
          <a:xfrm>
            <a:off x="19941480" y="22985280"/>
            <a:ext cx="8774640" cy="1184292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13800" y="1707840"/>
            <a:ext cx="27251280" cy="7148520"/>
          </a:xfrm>
          <a:prstGeom prst="rect">
            <a:avLst/>
          </a:prstGeom>
          <a:noFill/>
          <a:ln w="0">
            <a:noFill/>
          </a:ln>
        </p:spPr>
        <p:txBody>
          <a:bodyPr lIns="0" rIns="0" tIns="0" bIns="0" anchor="ctr">
            <a:noAutofit/>
          </a:bodyPr>
          <a:p>
            <a:r>
              <a:rPr b="0" lang="en-US" sz="1800" spc="-1" strike="noStrike">
                <a:solidFill>
                  <a:srgbClr val="000000"/>
                </a:solidFill>
                <a:latin typeface="Calibri"/>
              </a:rPr>
              <a:t>Format des Titeltextes durch Klicken bearbeiten</a:t>
            </a:r>
            <a:endParaRPr b="0" lang="en-US" sz="1800" spc="-1" strike="noStrike">
              <a:solidFill>
                <a:srgbClr val="000000"/>
              </a:solidFill>
              <a:latin typeface="Calibri"/>
            </a:endParaRPr>
          </a:p>
        </p:txBody>
      </p:sp>
      <p:sp>
        <p:nvSpPr>
          <p:cNvPr id="1" name="PlaceHolder 2"/>
          <p:cNvSpPr>
            <a:spLocks noGrp="1"/>
          </p:cNvSpPr>
          <p:nvPr>
            <p:ph type="body"/>
          </p:nvPr>
        </p:nvSpPr>
        <p:spPr>
          <a:xfrm>
            <a:off x="1513800" y="10017000"/>
            <a:ext cx="27251280" cy="248284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rgbClr val="000000"/>
                </a:solidFill>
                <a:latin typeface="Calibri"/>
              </a:rPr>
              <a:t>Format des Gliederungstextes durch Klicken bearbeiten</a:t>
            </a:r>
            <a:endParaRPr b="0" lang="en-US" sz="2800" spc="-1" strike="noStrike">
              <a:solidFill>
                <a:srgbClr val="000000"/>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rgbClr val="000000"/>
                </a:solidFill>
                <a:latin typeface="Calibri"/>
              </a:rPr>
              <a:t>Zweite Gliederungsebene</a:t>
            </a:r>
            <a:endParaRPr b="0" lang="en-US" sz="2000" spc="-1" strike="noStrike">
              <a:solidFill>
                <a:srgbClr val="000000"/>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rgbClr val="000000"/>
                </a:solidFill>
                <a:latin typeface="Calibri"/>
              </a:rPr>
              <a:t>Dritte Gliederungsebene</a:t>
            </a:r>
            <a:endParaRPr b="0" lang="en-US" sz="1800" spc="-1" strike="noStrike">
              <a:solidFill>
                <a:srgbClr val="000000"/>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rgbClr val="000000"/>
                </a:solidFill>
                <a:latin typeface="Calibri"/>
              </a:rPr>
              <a:t>Vierte Gliederungsebene</a:t>
            </a:r>
            <a:endParaRPr b="0" lang="en-US" sz="1800" spc="-1" strike="noStrike">
              <a:solidFill>
                <a:srgbClr val="000000"/>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Fünfte Gliederungsebene</a:t>
            </a:r>
            <a:endParaRPr b="0" lang="en-US" sz="2000" spc="-1" strike="noStrike">
              <a:solidFill>
                <a:srgbClr val="000000"/>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Sechste Gliederungsebene</a:t>
            </a:r>
            <a:endParaRPr b="0" lang="en-US" sz="2000" spc="-1" strike="noStrike">
              <a:solidFill>
                <a:srgbClr val="000000"/>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Siebte Gliederungsebene</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hyperlink" Target="https://github.com/SoheilAyati/MSAEES/tree/main/Docs" TargetMode="External"/><Relationship Id="rId7" Type="http://schemas.openxmlformats.org/officeDocument/2006/relationships/slideLayout" Target="../slideLayouts/slideLayout2.xml"/><Relationship Id="rId8" Type="http://schemas.openxmlformats.org/officeDocument/2006/relationships/notesSlide" Target="../notesSlides/notesSlide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Rectangle 7"/>
          <p:cNvSpPr/>
          <p:nvPr/>
        </p:nvSpPr>
        <p:spPr>
          <a:xfrm>
            <a:off x="1495440" y="0"/>
            <a:ext cx="9057960" cy="277920"/>
          </a:xfrm>
          <a:prstGeom prst="rect">
            <a:avLst/>
          </a:prstGeom>
          <a:solidFill>
            <a:srgbClr val="c90c0f"/>
          </a:solidFill>
          <a:ln w="0">
            <a:solidFill>
              <a:srgbClr val="c90c0f"/>
            </a:solidFill>
          </a:ln>
        </p:spPr>
        <p:style>
          <a:lnRef idx="0"/>
          <a:fillRef idx="0"/>
          <a:effectRef idx="0"/>
          <a:fontRef idx="minor"/>
        </p:style>
      </p:sp>
      <p:sp>
        <p:nvSpPr>
          <p:cNvPr id="45" name="Rectangle 1"/>
          <p:cNvSpPr/>
          <p:nvPr/>
        </p:nvSpPr>
        <p:spPr>
          <a:xfrm>
            <a:off x="10553760" y="0"/>
            <a:ext cx="9057960" cy="277920"/>
          </a:xfrm>
          <a:prstGeom prst="rect">
            <a:avLst/>
          </a:prstGeom>
          <a:solidFill>
            <a:srgbClr val="ea5b0c"/>
          </a:solidFill>
          <a:ln w="0">
            <a:solidFill>
              <a:srgbClr val="ea5b0c"/>
            </a:solidFill>
          </a:ln>
        </p:spPr>
        <p:style>
          <a:lnRef idx="0"/>
          <a:fillRef idx="0"/>
          <a:effectRef idx="0"/>
          <a:fontRef idx="minor"/>
        </p:style>
      </p:sp>
      <p:sp>
        <p:nvSpPr>
          <p:cNvPr id="46" name="Rectangle 2"/>
          <p:cNvSpPr/>
          <p:nvPr/>
        </p:nvSpPr>
        <p:spPr>
          <a:xfrm>
            <a:off x="19612080" y="0"/>
            <a:ext cx="9181800" cy="277920"/>
          </a:xfrm>
          <a:prstGeom prst="rect">
            <a:avLst/>
          </a:prstGeom>
          <a:solidFill>
            <a:srgbClr val="b82585"/>
          </a:solidFill>
          <a:ln w="0">
            <a:solidFill>
              <a:srgbClr val="b82585"/>
            </a:solidFill>
          </a:ln>
        </p:spPr>
        <p:style>
          <a:lnRef idx="0"/>
          <a:fillRef idx="0"/>
          <a:effectRef idx="0"/>
          <a:fontRef idx="minor"/>
        </p:style>
      </p:sp>
      <p:sp>
        <p:nvSpPr>
          <p:cNvPr id="47" name="Rectangle 3"/>
          <p:cNvSpPr/>
          <p:nvPr/>
        </p:nvSpPr>
        <p:spPr>
          <a:xfrm>
            <a:off x="1352520" y="743040"/>
            <a:ext cx="17620920" cy="34286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6450" spc="-1" strike="noStrike">
                <a:solidFill>
                  <a:srgbClr val="000000"/>
                </a:solidFill>
                <a:latin typeface="Aptos"/>
                <a:ea typeface="Aptos"/>
              </a:rPr>
              <a:t>Non-Intrusive Load Monitoring</a:t>
            </a:r>
            <a:endParaRPr b="0" lang="de-DE" sz="6450" spc="-1" strike="noStrike">
              <a:latin typeface="Arial"/>
            </a:endParaRPr>
          </a:p>
          <a:p>
            <a:pPr>
              <a:lnSpc>
                <a:spcPct val="100000"/>
              </a:lnSpc>
              <a:buNone/>
              <a:tabLst>
                <a:tab algn="l" pos="0"/>
              </a:tabLst>
            </a:pPr>
            <a:r>
              <a:rPr b="1" lang="en-US" sz="6450" spc="-1" strike="noStrike">
                <a:solidFill>
                  <a:srgbClr val="000000"/>
                </a:solidFill>
                <a:latin typeface="Aptos"/>
                <a:ea typeface="Aptos"/>
              </a:rPr>
              <a:t>with Harmonic Feature Fusion</a:t>
            </a:r>
            <a:endParaRPr b="0" lang="de-DE" sz="6450" spc="-1" strike="noStrike">
              <a:latin typeface="Arial"/>
            </a:endParaRPr>
          </a:p>
          <a:p>
            <a:pPr>
              <a:lnSpc>
                <a:spcPct val="100000"/>
              </a:lnSpc>
              <a:buNone/>
              <a:tabLst>
                <a:tab algn="l" pos="0"/>
              </a:tabLst>
            </a:pPr>
            <a:r>
              <a:rPr b="1" lang="en-US" sz="6450" spc="-1" strike="noStrike">
                <a:solidFill>
                  <a:srgbClr val="000000"/>
                </a:solidFill>
                <a:latin typeface="Aptos"/>
                <a:ea typeface="Aptos"/>
              </a:rPr>
              <a:t>and Live On-the-Go Learning</a:t>
            </a:r>
            <a:endParaRPr b="0" lang="de-DE" sz="6450" spc="-1" strike="noStrike">
              <a:latin typeface="Arial"/>
            </a:endParaRPr>
          </a:p>
        </p:txBody>
      </p:sp>
      <p:sp>
        <p:nvSpPr>
          <p:cNvPr id="48" name="Rectangle 4"/>
          <p:cNvSpPr/>
          <p:nvPr/>
        </p:nvSpPr>
        <p:spPr>
          <a:xfrm>
            <a:off x="19764360" y="1066680"/>
            <a:ext cx="9286560" cy="142848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buNone/>
              <a:tabLst>
                <a:tab algn="l" pos="0"/>
              </a:tabLst>
            </a:pPr>
            <a:r>
              <a:rPr b="1" lang="en-US" sz="3530" spc="-1" strike="noStrike">
                <a:solidFill>
                  <a:srgbClr val="000000"/>
                </a:solidFill>
                <a:latin typeface="Arial"/>
                <a:ea typeface="Arial"/>
              </a:rPr>
              <a:t>Modeling, Simulation and Automation of Electrical Energy Systems</a:t>
            </a:r>
            <a:endParaRPr b="0" lang="de-DE" sz="3530" spc="-1" strike="noStrike">
              <a:latin typeface="Arial"/>
            </a:endParaRPr>
          </a:p>
          <a:p>
            <a:pPr algn="r">
              <a:lnSpc>
                <a:spcPct val="100000"/>
              </a:lnSpc>
              <a:buNone/>
              <a:tabLst>
                <a:tab algn="l" pos="0"/>
              </a:tabLst>
            </a:pPr>
            <a:r>
              <a:rPr b="1" lang="en-US" sz="3530" spc="-1" strike="noStrike">
                <a:solidFill>
                  <a:srgbClr val="000000"/>
                </a:solidFill>
                <a:latin typeface="Arial"/>
                <a:ea typeface="Arial"/>
              </a:rPr>
              <a:t>TH Köln | Soheil Ayati, Marc Steffgen</a:t>
            </a:r>
            <a:endParaRPr b="0" lang="de-DE" sz="3530" spc="-1" strike="noStrike">
              <a:latin typeface="Arial"/>
            </a:endParaRPr>
          </a:p>
        </p:txBody>
      </p:sp>
      <p:sp>
        <p:nvSpPr>
          <p:cNvPr id="49" name="Rectangle 5"/>
          <p:cNvSpPr/>
          <p:nvPr/>
        </p:nvSpPr>
        <p:spPr>
          <a:xfrm>
            <a:off x="1428840" y="3965040"/>
            <a:ext cx="27527040" cy="9522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2850" spc="-1" strike="noStrike">
                <a:solidFill>
                  <a:srgbClr val="333333"/>
                </a:solidFill>
                <a:latin typeface="Arial"/>
                <a:ea typeface="Arial"/>
              </a:rPr>
              <a:t>A complete laboratory NILM workflow: PAC4200 acquisition, HDF5 ground-truth scenarios, physics-aware PCC aggregation, a deployable Random Forest presence/power mix model, residual-aware live inference, and guided retraining for unknown devices.</a:t>
            </a:r>
            <a:endParaRPr b="0" lang="de-DE" sz="2850" spc="-1" strike="noStrike">
              <a:latin typeface="Arial"/>
            </a:endParaRPr>
          </a:p>
        </p:txBody>
      </p:sp>
      <p:sp>
        <p:nvSpPr>
          <p:cNvPr id="50" name="Rectangle 6"/>
          <p:cNvSpPr/>
          <p:nvPr/>
        </p:nvSpPr>
        <p:spPr>
          <a:xfrm>
            <a:off x="1428840" y="5196960"/>
            <a:ext cx="8762760" cy="875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5010" spc="-1" strike="noStrike">
                <a:solidFill>
                  <a:srgbClr val="000000"/>
                </a:solidFill>
                <a:latin typeface="Arial"/>
                <a:ea typeface="Arial"/>
              </a:rPr>
              <a:t>Why we built it</a:t>
            </a:r>
            <a:endParaRPr b="0" lang="de-DE" sz="5010" spc="-1" strike="noStrike">
              <a:latin typeface="Arial"/>
            </a:endParaRPr>
          </a:p>
        </p:txBody>
      </p:sp>
      <p:sp>
        <p:nvSpPr>
          <p:cNvPr id="51" name="Straight Arrow Connector 892"/>
          <p:cNvSpPr/>
          <p:nvPr/>
        </p:nvSpPr>
        <p:spPr>
          <a:xfrm>
            <a:off x="1486080" y="6076800"/>
            <a:ext cx="8591040" cy="360"/>
          </a:xfrm>
          <a:custGeom>
            <a:avLst/>
            <a:gdLst/>
            <a:ahLst/>
            <a:rect l="l" t="t" r="r" b="b"/>
            <a:pathLst>
              <a:path w="21600" h="21600">
                <a:moveTo>
                  <a:pt x="0" y="0"/>
                </a:moveTo>
                <a:lnTo>
                  <a:pt x="21600" y="21600"/>
                </a:lnTo>
              </a:path>
            </a:pathLst>
          </a:custGeom>
          <a:noFill/>
          <a:ln w="57150">
            <a:solidFill>
              <a:srgbClr val="c90c0f"/>
            </a:solidFill>
            <a:round/>
          </a:ln>
        </p:spPr>
        <p:style>
          <a:lnRef idx="0"/>
          <a:fillRef idx="0"/>
          <a:effectRef idx="0"/>
          <a:fontRef idx="minor"/>
        </p:style>
      </p:sp>
      <p:sp>
        <p:nvSpPr>
          <p:cNvPr id="52" name="Rectangle 8"/>
          <p:cNvSpPr/>
          <p:nvPr/>
        </p:nvSpPr>
        <p:spPr>
          <a:xfrm>
            <a:off x="1428840" y="6477120"/>
            <a:ext cx="8762760" cy="409536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0" lang="en-US" sz="2480" spc="-1" strike="noStrike">
                <a:solidFill>
                  <a:srgbClr val="000000"/>
                </a:solidFill>
                <a:latin typeface="Arial"/>
                <a:ea typeface="Arial"/>
              </a:rPr>
              <a:t>NILM estimates appliance activity from one aggregate measurement at the point of common coupling.</a:t>
            </a:r>
            <a:endParaRPr b="0" lang="de-DE" sz="2480" spc="-1" strike="noStrike">
              <a:latin typeface="Arial"/>
            </a:endParaRPr>
          </a:p>
          <a:p>
            <a:pPr algn="just">
              <a:lnSpc>
                <a:spcPct val="100000"/>
              </a:lnSpc>
              <a:buNone/>
              <a:tabLst>
                <a:tab algn="l" pos="0"/>
              </a:tabLst>
            </a:pPr>
            <a:r>
              <a:rPr b="0" lang="en-US" sz="2480" spc="-1" strike="noStrike">
                <a:solidFill>
                  <a:srgbClr val="000000"/>
                </a:solidFill>
                <a:latin typeface="Arial"/>
                <a:ea typeface="Arial"/>
              </a:rPr>
              <a:t>The practical challenge is overlap: several devices run at once, similar loads share the same P range, and PV can mask consumption by driving signed power toward zero.</a:t>
            </a:r>
            <a:endParaRPr b="0" lang="de-DE" sz="2480" spc="-1" strike="noStrike">
              <a:latin typeface="Arial"/>
            </a:endParaRPr>
          </a:p>
          <a:p>
            <a:pPr algn="just">
              <a:lnSpc>
                <a:spcPct val="100000"/>
              </a:lnSpc>
              <a:buNone/>
              <a:tabLst>
                <a:tab algn="l" pos="0"/>
              </a:tabLst>
            </a:pPr>
            <a:r>
              <a:rPr b="0" lang="en-US" sz="2480" spc="-1" strike="noStrike">
                <a:solidFill>
                  <a:srgbClr val="000000"/>
                </a:solidFill>
                <a:latin typeface="Arial"/>
                <a:ea typeface="Arial"/>
              </a:rPr>
              <a:t>The project therefore uses every measurable low-frequency signature: active/reactive power, power factor, THD, per-order harmonics and switching edges.</a:t>
            </a:r>
            <a:endParaRPr b="0" lang="de-DE" sz="2480" spc="-1" strike="noStrike">
              <a:latin typeface="Arial"/>
            </a:endParaRPr>
          </a:p>
        </p:txBody>
      </p:sp>
      <p:sp>
        <p:nvSpPr>
          <p:cNvPr id="53" name="Rectangle 9"/>
          <p:cNvSpPr/>
          <p:nvPr/>
        </p:nvSpPr>
        <p:spPr>
          <a:xfrm>
            <a:off x="1779120" y="10394280"/>
            <a:ext cx="1999800" cy="1275840"/>
          </a:xfrm>
          <a:prstGeom prst="rect">
            <a:avLst/>
          </a:prstGeom>
          <a:solidFill>
            <a:srgbClr val="ffffff"/>
          </a:solidFill>
          <a:ln w="38100">
            <a:solidFill>
              <a:srgbClr val="c90c0f"/>
            </a:solidFill>
            <a:round/>
          </a:ln>
        </p:spPr>
        <p:style>
          <a:lnRef idx="0"/>
          <a:fillRef idx="0"/>
          <a:effectRef idx="0"/>
          <a:fontRef idx="minor"/>
        </p:style>
      </p:sp>
      <p:sp>
        <p:nvSpPr>
          <p:cNvPr id="54" name="Rectangle 10"/>
          <p:cNvSpPr/>
          <p:nvPr/>
        </p:nvSpPr>
        <p:spPr>
          <a:xfrm>
            <a:off x="1950840" y="10636560"/>
            <a:ext cx="1657080" cy="8377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2250" spc="-1" strike="noStrike">
                <a:solidFill>
                  <a:srgbClr val="000000"/>
                </a:solidFill>
                <a:latin typeface="Arial"/>
                <a:ea typeface="Arial"/>
              </a:rPr>
              <a:t>Loads</a:t>
            </a:r>
            <a:endParaRPr b="0" lang="de-DE" sz="2250" spc="-1" strike="noStrike">
              <a:latin typeface="Arial"/>
            </a:endParaRPr>
          </a:p>
          <a:p>
            <a:pPr algn="ctr">
              <a:lnSpc>
                <a:spcPct val="100000"/>
              </a:lnSpc>
              <a:buNone/>
              <a:tabLst>
                <a:tab algn="l" pos="0"/>
              </a:tabLst>
            </a:pPr>
            <a:r>
              <a:rPr b="1" lang="en-US" sz="2250" spc="-1" strike="noStrike">
                <a:solidFill>
                  <a:srgbClr val="000000"/>
                </a:solidFill>
                <a:latin typeface="Arial"/>
                <a:ea typeface="Arial"/>
              </a:rPr>
              <a:t>+ PV</a:t>
            </a:r>
            <a:endParaRPr b="0" lang="de-DE" sz="2250" spc="-1" strike="noStrike">
              <a:latin typeface="Arial"/>
            </a:endParaRPr>
          </a:p>
        </p:txBody>
      </p:sp>
      <p:sp>
        <p:nvSpPr>
          <p:cNvPr id="55" name="Rectangle 11"/>
          <p:cNvSpPr/>
          <p:nvPr/>
        </p:nvSpPr>
        <p:spPr>
          <a:xfrm>
            <a:off x="4779720" y="10394280"/>
            <a:ext cx="1999800" cy="1275840"/>
          </a:xfrm>
          <a:prstGeom prst="rect">
            <a:avLst/>
          </a:prstGeom>
          <a:solidFill>
            <a:srgbClr val="ffffff"/>
          </a:solidFill>
          <a:ln w="38100">
            <a:solidFill>
              <a:srgbClr val="ea5b0c"/>
            </a:solidFill>
            <a:round/>
          </a:ln>
        </p:spPr>
        <p:style>
          <a:lnRef idx="0"/>
          <a:fillRef idx="0"/>
          <a:effectRef idx="0"/>
          <a:fontRef idx="minor"/>
        </p:style>
      </p:sp>
      <p:sp>
        <p:nvSpPr>
          <p:cNvPr id="56" name="Rectangle 12"/>
          <p:cNvSpPr/>
          <p:nvPr/>
        </p:nvSpPr>
        <p:spPr>
          <a:xfrm>
            <a:off x="4984560" y="10661040"/>
            <a:ext cx="1657080" cy="8377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2250" spc="-1" strike="noStrike">
                <a:solidFill>
                  <a:srgbClr val="000000"/>
                </a:solidFill>
                <a:latin typeface="Arial"/>
                <a:ea typeface="Arial"/>
              </a:rPr>
              <a:t>PAC4200</a:t>
            </a:r>
            <a:endParaRPr b="0" lang="de-DE" sz="2250" spc="-1" strike="noStrike">
              <a:latin typeface="Arial"/>
            </a:endParaRPr>
          </a:p>
          <a:p>
            <a:pPr algn="ctr">
              <a:lnSpc>
                <a:spcPct val="100000"/>
              </a:lnSpc>
              <a:buNone/>
              <a:tabLst>
                <a:tab algn="l" pos="0"/>
              </a:tabLst>
            </a:pPr>
            <a:r>
              <a:rPr b="1" lang="en-US" sz="2250" spc="-1" strike="noStrike">
                <a:solidFill>
                  <a:srgbClr val="000000"/>
                </a:solidFill>
                <a:latin typeface="Arial"/>
                <a:ea typeface="Arial"/>
              </a:rPr>
              <a:t>5 Hz</a:t>
            </a:r>
            <a:endParaRPr b="0" lang="de-DE" sz="2250" spc="-1" strike="noStrike">
              <a:latin typeface="Arial"/>
            </a:endParaRPr>
          </a:p>
        </p:txBody>
      </p:sp>
      <p:sp>
        <p:nvSpPr>
          <p:cNvPr id="57" name="Rectangle 13"/>
          <p:cNvSpPr/>
          <p:nvPr/>
        </p:nvSpPr>
        <p:spPr>
          <a:xfrm>
            <a:off x="7779960" y="10394280"/>
            <a:ext cx="2095200" cy="1275840"/>
          </a:xfrm>
          <a:prstGeom prst="rect">
            <a:avLst/>
          </a:prstGeom>
          <a:solidFill>
            <a:srgbClr val="ffffff"/>
          </a:solidFill>
          <a:ln w="38100">
            <a:solidFill>
              <a:srgbClr val="b82585"/>
            </a:solidFill>
            <a:round/>
          </a:ln>
        </p:spPr>
        <p:style>
          <a:lnRef idx="0"/>
          <a:fillRef idx="0"/>
          <a:effectRef idx="0"/>
          <a:fontRef idx="minor"/>
        </p:style>
      </p:sp>
      <p:sp>
        <p:nvSpPr>
          <p:cNvPr id="58" name="Rectangle 14"/>
          <p:cNvSpPr/>
          <p:nvPr/>
        </p:nvSpPr>
        <p:spPr>
          <a:xfrm>
            <a:off x="7951320" y="10508400"/>
            <a:ext cx="1752120" cy="8377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2250" spc="-1" strike="noStrike">
                <a:solidFill>
                  <a:srgbClr val="000000"/>
                </a:solidFill>
                <a:latin typeface="Arial"/>
                <a:ea typeface="Arial"/>
              </a:rPr>
              <a:t>NILM</a:t>
            </a:r>
            <a:endParaRPr b="0" lang="de-DE" sz="2250" spc="-1" strike="noStrike">
              <a:latin typeface="Arial"/>
            </a:endParaRPr>
          </a:p>
          <a:p>
            <a:pPr algn="ctr">
              <a:lnSpc>
                <a:spcPct val="100000"/>
              </a:lnSpc>
              <a:buNone/>
              <a:tabLst>
                <a:tab algn="l" pos="0"/>
              </a:tabLst>
            </a:pPr>
            <a:r>
              <a:rPr b="1" lang="en-US" sz="2250" spc="-1" strike="noStrike">
                <a:solidFill>
                  <a:srgbClr val="000000"/>
                </a:solidFill>
                <a:latin typeface="Arial"/>
                <a:ea typeface="Arial"/>
              </a:rPr>
              <a:t>who + watts?</a:t>
            </a:r>
            <a:endParaRPr b="0" lang="de-DE" sz="2250" spc="-1" strike="noStrike">
              <a:latin typeface="Arial"/>
            </a:endParaRPr>
          </a:p>
        </p:txBody>
      </p:sp>
      <p:sp>
        <p:nvSpPr>
          <p:cNvPr id="59" name="Straight Arrow Connector 900"/>
          <p:cNvSpPr/>
          <p:nvPr/>
        </p:nvSpPr>
        <p:spPr>
          <a:xfrm>
            <a:off x="3779640" y="11016360"/>
            <a:ext cx="999720" cy="360"/>
          </a:xfrm>
          <a:custGeom>
            <a:avLst/>
            <a:gdLst/>
            <a:ahLst/>
            <a:rect l="l" t="t" r="r" b="b"/>
            <a:pathLst>
              <a:path w="21600" h="21600">
                <a:moveTo>
                  <a:pt x="0" y="0"/>
                </a:moveTo>
                <a:lnTo>
                  <a:pt x="21600" y="21600"/>
                </a:lnTo>
              </a:path>
            </a:pathLst>
          </a:custGeom>
          <a:noFill/>
          <a:ln w="47625">
            <a:solidFill>
              <a:srgbClr val="666666"/>
            </a:solidFill>
            <a:round/>
          </a:ln>
        </p:spPr>
        <p:style>
          <a:lnRef idx="0"/>
          <a:fillRef idx="0"/>
          <a:effectRef idx="0"/>
          <a:fontRef idx="minor"/>
        </p:style>
      </p:sp>
      <p:sp>
        <p:nvSpPr>
          <p:cNvPr id="60" name="Straight Arrow Connector 901"/>
          <p:cNvSpPr/>
          <p:nvPr/>
        </p:nvSpPr>
        <p:spPr>
          <a:xfrm>
            <a:off x="6779880" y="11016360"/>
            <a:ext cx="999720" cy="360"/>
          </a:xfrm>
          <a:custGeom>
            <a:avLst/>
            <a:gdLst/>
            <a:ahLst/>
            <a:rect l="l" t="t" r="r" b="b"/>
            <a:pathLst>
              <a:path w="21600" h="21600">
                <a:moveTo>
                  <a:pt x="0" y="0"/>
                </a:moveTo>
                <a:lnTo>
                  <a:pt x="21600" y="21600"/>
                </a:lnTo>
              </a:path>
            </a:pathLst>
          </a:custGeom>
          <a:noFill/>
          <a:ln w="47625">
            <a:solidFill>
              <a:srgbClr val="666666"/>
            </a:solidFill>
            <a:round/>
          </a:ln>
        </p:spPr>
        <p:style>
          <a:lnRef idx="0"/>
          <a:fillRef idx="0"/>
          <a:effectRef idx="0"/>
          <a:fontRef idx="minor"/>
        </p:style>
      </p:sp>
      <p:sp>
        <p:nvSpPr>
          <p:cNvPr id="61" name="Rectangle 17"/>
          <p:cNvSpPr/>
          <p:nvPr/>
        </p:nvSpPr>
        <p:spPr>
          <a:xfrm>
            <a:off x="1809720" y="12012120"/>
            <a:ext cx="7714800" cy="342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430" spc="-1" strike="noStrike">
                <a:solidFill>
                  <a:srgbClr val="000000"/>
                </a:solidFill>
                <a:latin typeface="Arial"/>
                <a:ea typeface="Arial"/>
              </a:rPr>
              <a:t>Figure 1: Single-meter NILM objective under overlapping loads and PV-aware signed power.</a:t>
            </a:r>
            <a:endParaRPr b="0" lang="de-DE" sz="1430" spc="-1" strike="noStrike">
              <a:latin typeface="Arial"/>
            </a:endParaRPr>
          </a:p>
        </p:txBody>
      </p:sp>
      <p:sp>
        <p:nvSpPr>
          <p:cNvPr id="62" name="Rectangle 18"/>
          <p:cNvSpPr/>
          <p:nvPr/>
        </p:nvSpPr>
        <p:spPr>
          <a:xfrm>
            <a:off x="1428840" y="12825360"/>
            <a:ext cx="8762760" cy="875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5010" spc="-1" strike="noStrike">
                <a:solidFill>
                  <a:srgbClr val="000000"/>
                </a:solidFill>
                <a:latin typeface="Arial"/>
                <a:ea typeface="Arial"/>
              </a:rPr>
              <a:t>Implementation plan</a:t>
            </a:r>
            <a:endParaRPr b="0" lang="de-DE" sz="5010" spc="-1" strike="noStrike">
              <a:latin typeface="Arial"/>
            </a:endParaRPr>
          </a:p>
        </p:txBody>
      </p:sp>
      <p:sp>
        <p:nvSpPr>
          <p:cNvPr id="63" name="Straight Arrow Connector 904"/>
          <p:cNvSpPr/>
          <p:nvPr/>
        </p:nvSpPr>
        <p:spPr>
          <a:xfrm>
            <a:off x="1486080" y="13713840"/>
            <a:ext cx="8591040" cy="360"/>
          </a:xfrm>
          <a:custGeom>
            <a:avLst/>
            <a:gdLst/>
            <a:ahLst/>
            <a:rect l="l" t="t" r="r" b="b"/>
            <a:pathLst>
              <a:path w="21600" h="21600">
                <a:moveTo>
                  <a:pt x="0" y="0"/>
                </a:moveTo>
                <a:lnTo>
                  <a:pt x="21600" y="21600"/>
                </a:lnTo>
              </a:path>
            </a:pathLst>
          </a:custGeom>
          <a:noFill/>
          <a:ln w="57150">
            <a:solidFill>
              <a:srgbClr val="c90c0f"/>
            </a:solidFill>
            <a:round/>
          </a:ln>
        </p:spPr>
        <p:style>
          <a:lnRef idx="0"/>
          <a:fillRef idx="0"/>
          <a:effectRef idx="0"/>
          <a:fontRef idx="minor"/>
        </p:style>
      </p:sp>
      <p:sp>
        <p:nvSpPr>
          <p:cNvPr id="64" name="Rectangle 20"/>
          <p:cNvSpPr/>
          <p:nvPr/>
        </p:nvSpPr>
        <p:spPr>
          <a:xfrm>
            <a:off x="10684800" y="7242480"/>
            <a:ext cx="8762760" cy="54367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1" lang="en-US" sz="2470" spc="-1" strike="noStrike">
                <a:solidFill>
                  <a:srgbClr val="000000"/>
                </a:solidFill>
                <a:latin typeface="Arial"/>
                <a:ea typeface="Arial"/>
              </a:rPr>
              <a:t>One format: </a:t>
            </a:r>
            <a:r>
              <a:rPr b="0" lang="en-US" sz="2470" spc="-1" strike="noStrike">
                <a:solidFill>
                  <a:srgbClr val="000000"/>
                </a:solidFill>
                <a:latin typeface="Arial"/>
                <a:ea typeface="Arial"/>
              </a:rPr>
              <a:t>every source normalizes to a single HDF5 layout, UTC-microsecond timestamps, float32 channels, optional ground truth, LZF-compressed.</a:t>
            </a:r>
            <a:endParaRPr b="0" lang="de-DE" sz="2470" spc="-1" strike="noStrike">
              <a:latin typeface="Arial"/>
            </a:endParaRPr>
          </a:p>
          <a:p>
            <a:pPr algn="just">
              <a:lnSpc>
                <a:spcPct val="100000"/>
              </a:lnSpc>
              <a:buNone/>
              <a:tabLst>
                <a:tab algn="l" pos="0"/>
              </a:tabLst>
            </a:pPr>
            <a:r>
              <a:rPr b="1" lang="en-US" sz="2470" spc="-1" strike="noStrike">
                <a:solidFill>
                  <a:srgbClr val="000000"/>
                </a:solidFill>
                <a:latin typeface="Arial"/>
                <a:ea typeface="Arial"/>
              </a:rPr>
              <a:t>Two supervision sources: </a:t>
            </a:r>
            <a:r>
              <a:rPr b="0" lang="en-US" sz="2470" spc="-1" strike="noStrike">
                <a:solidFill>
                  <a:srgbClr val="000000"/>
                </a:solidFill>
                <a:latin typeface="Arial"/>
                <a:ea typeface="Arial"/>
              </a:rPr>
              <a:t>synthetic traces give exact per-sample P/Q/state labels; measured single-device recordings give real signatures, looped by the mixer into labelled multi-device scenarios.</a:t>
            </a:r>
            <a:endParaRPr b="0" lang="de-DE" sz="2470" spc="-1" strike="noStrike">
              <a:latin typeface="Arial"/>
            </a:endParaRPr>
          </a:p>
          <a:p>
            <a:pPr algn="just">
              <a:lnSpc>
                <a:spcPct val="100000"/>
              </a:lnSpc>
              <a:buNone/>
              <a:tabLst>
                <a:tab algn="l" pos="0"/>
              </a:tabLst>
            </a:pPr>
            <a:r>
              <a:rPr b="1" lang="en-US" sz="2470" spc="-1" strike="noStrike">
                <a:solidFill>
                  <a:srgbClr val="000000"/>
                </a:solidFill>
                <a:latin typeface="Arial"/>
                <a:ea typeface="Arial"/>
              </a:rPr>
              <a:t>Physical PCC model: </a:t>
            </a:r>
            <a:r>
              <a:rPr b="0" lang="en-US" sz="2470" spc="-1" strike="noStrike">
                <a:solidFill>
                  <a:srgbClr val="000000"/>
                </a:solidFill>
                <a:latin typeface="Arial"/>
                <a:ea typeface="Arial"/>
              </a:rPr>
              <a:t>single-phase loads land on L1-L3, balanced devices split three ways, signed PV can pull net P below zero; totals P/Q/S/PF/THD recomputed.</a:t>
            </a:r>
            <a:endParaRPr b="0" lang="de-DE" sz="2470" spc="-1" strike="noStrike">
              <a:latin typeface="Arial"/>
            </a:endParaRPr>
          </a:p>
          <a:p>
            <a:pPr algn="just">
              <a:lnSpc>
                <a:spcPct val="100000"/>
              </a:lnSpc>
              <a:buNone/>
              <a:tabLst>
                <a:tab algn="l" pos="0"/>
              </a:tabLst>
            </a:pPr>
            <a:r>
              <a:rPr b="1" lang="en-US" sz="2470" spc="-1" strike="noStrike">
                <a:solidFill>
                  <a:srgbClr val="000000"/>
                </a:solidFill>
                <a:latin typeface="Arial"/>
                <a:ea typeface="Arial"/>
              </a:rPr>
              <a:t>Complex harmonic sum: </a:t>
            </a:r>
            <a:r>
              <a:rPr b="0" lang="en-US" sz="2470" spc="-1" strike="noStrike">
                <a:solidFill>
                  <a:srgbClr val="000000"/>
                </a:solidFill>
                <a:latin typeface="Arial"/>
                <a:ea typeface="Arial"/>
              </a:rPr>
              <a:t>orders </a:t>
            </a:r>
            <a:r>
              <a:rPr b="0" lang="en-DE" sz="2470" spc="-1" strike="noStrike">
                <a:solidFill>
                  <a:srgbClr val="000000"/>
                </a:solidFill>
                <a:latin typeface="Arial"/>
                <a:ea typeface="Arial"/>
              </a:rPr>
              <a:t>1</a:t>
            </a:r>
            <a:r>
              <a:rPr b="0" lang="en-US" sz="2470" spc="-1" strike="noStrike">
                <a:solidFill>
                  <a:srgbClr val="000000"/>
                </a:solidFill>
                <a:latin typeface="Arial"/>
                <a:ea typeface="Arial"/>
              </a:rPr>
              <a:t>..</a:t>
            </a:r>
            <a:r>
              <a:rPr b="0" lang="en-DE" sz="2470" spc="-1" strike="noStrike">
                <a:solidFill>
                  <a:srgbClr val="000000"/>
                </a:solidFill>
                <a:latin typeface="Arial"/>
                <a:ea typeface="Arial"/>
              </a:rPr>
              <a:t>40</a:t>
            </a:r>
            <a:r>
              <a:rPr b="0" lang="en-US" sz="2470" spc="-1" strike="noStrike">
                <a:solidFill>
                  <a:srgbClr val="000000"/>
                </a:solidFill>
                <a:latin typeface="Arial"/>
                <a:ea typeface="Arial"/>
              </a:rPr>
              <a:t> added as vectors per phase and kept as magnitude and phase, so harmonic cancellation and reinforcement survive what plain magnitude addition would destroy.</a:t>
            </a:r>
            <a:endParaRPr b="0" lang="de-DE" sz="2470" spc="-1" strike="noStrike">
              <a:latin typeface="Arial"/>
            </a:endParaRPr>
          </a:p>
        </p:txBody>
      </p:sp>
      <p:pic>
        <p:nvPicPr>
          <p:cNvPr id="65" name="Picture 906" descr=""/>
          <p:cNvPicPr/>
          <p:nvPr/>
        </p:nvPicPr>
        <p:blipFill>
          <a:blip r:embed="rId1"/>
          <a:stretch/>
        </p:blipFill>
        <p:spPr>
          <a:xfrm>
            <a:off x="10698120" y="12862440"/>
            <a:ext cx="8762760" cy="4952520"/>
          </a:xfrm>
          <a:prstGeom prst="rect">
            <a:avLst/>
          </a:prstGeom>
          <a:ln w="0">
            <a:noFill/>
          </a:ln>
        </p:spPr>
      </p:pic>
      <p:sp>
        <p:nvSpPr>
          <p:cNvPr id="66" name="Rectangle 22"/>
          <p:cNvSpPr/>
          <p:nvPr/>
        </p:nvSpPr>
        <p:spPr>
          <a:xfrm>
            <a:off x="10810800" y="18074520"/>
            <a:ext cx="8762760" cy="742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430" spc="-1" strike="noStrike">
                <a:solidFill>
                  <a:srgbClr val="000000"/>
                </a:solidFill>
                <a:latin typeface="Arial"/>
                <a:ea typeface="Arial"/>
              </a:rPr>
              <a:t>Figure 3: 24 h PCC aggregate and hidden per-appliance ground truth; the model sees only the aggregate signal.</a:t>
            </a:r>
            <a:endParaRPr b="0" lang="de-DE" sz="1430" spc="-1" strike="noStrike">
              <a:latin typeface="Arial"/>
            </a:endParaRPr>
          </a:p>
        </p:txBody>
      </p:sp>
      <p:sp>
        <p:nvSpPr>
          <p:cNvPr id="67" name="Rectangle 23"/>
          <p:cNvSpPr/>
          <p:nvPr/>
        </p:nvSpPr>
        <p:spPr>
          <a:xfrm>
            <a:off x="10667880" y="5196960"/>
            <a:ext cx="8762760" cy="875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5010" spc="-1" strike="noStrike">
                <a:solidFill>
                  <a:srgbClr val="000000"/>
                </a:solidFill>
                <a:latin typeface="Arial"/>
                <a:ea typeface="Arial"/>
              </a:rPr>
              <a:t>Implementation focus</a:t>
            </a:r>
            <a:endParaRPr b="0" lang="de-DE" sz="5010" spc="-1" strike="noStrike">
              <a:latin typeface="Arial"/>
            </a:endParaRPr>
          </a:p>
        </p:txBody>
      </p:sp>
      <p:sp>
        <p:nvSpPr>
          <p:cNvPr id="68" name="Straight Arrow Connector 909"/>
          <p:cNvSpPr/>
          <p:nvPr/>
        </p:nvSpPr>
        <p:spPr>
          <a:xfrm>
            <a:off x="10725120" y="6076800"/>
            <a:ext cx="8591040" cy="360"/>
          </a:xfrm>
          <a:custGeom>
            <a:avLst/>
            <a:gdLst/>
            <a:ahLst/>
            <a:rect l="l" t="t" r="r" b="b"/>
            <a:pathLst>
              <a:path w="21600" h="21600">
                <a:moveTo>
                  <a:pt x="0" y="0"/>
                </a:moveTo>
                <a:lnTo>
                  <a:pt x="21600" y="21600"/>
                </a:lnTo>
              </a:path>
            </a:pathLst>
          </a:custGeom>
          <a:noFill/>
          <a:ln w="57150">
            <a:solidFill>
              <a:srgbClr val="ea5b0c"/>
            </a:solidFill>
            <a:round/>
          </a:ln>
        </p:spPr>
        <p:style>
          <a:lnRef idx="0"/>
          <a:fillRef idx="0"/>
          <a:effectRef idx="0"/>
          <a:fontRef idx="minor"/>
        </p:style>
      </p:sp>
      <p:sp>
        <p:nvSpPr>
          <p:cNvPr id="69" name="Rectangle 28"/>
          <p:cNvSpPr/>
          <p:nvPr/>
        </p:nvSpPr>
        <p:spPr>
          <a:xfrm>
            <a:off x="10725120" y="18927360"/>
            <a:ext cx="876276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450" spc="-1" strike="noStrike">
                <a:solidFill>
                  <a:srgbClr val="000000"/>
                </a:solidFill>
                <a:latin typeface="Arial"/>
                <a:ea typeface="Arial"/>
              </a:rPr>
              <a:t>Random Forest mix model</a:t>
            </a:r>
            <a:endParaRPr b="0" lang="de-DE" sz="3450" spc="-1" strike="noStrike">
              <a:latin typeface="Arial"/>
            </a:endParaRPr>
          </a:p>
        </p:txBody>
      </p:sp>
      <p:sp>
        <p:nvSpPr>
          <p:cNvPr id="70" name="Rectangle 29"/>
          <p:cNvSpPr/>
          <p:nvPr/>
        </p:nvSpPr>
        <p:spPr>
          <a:xfrm>
            <a:off x="10725120" y="19591200"/>
            <a:ext cx="8762760" cy="57780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1" lang="en-US" sz="2480" spc="-1" strike="noStrike">
                <a:solidFill>
                  <a:srgbClr val="000000"/>
                </a:solidFill>
                <a:latin typeface="Arial"/>
                <a:ea typeface="Arial"/>
              </a:rPr>
              <a:t>Two questions per 10 s window: </a:t>
            </a:r>
            <a:r>
              <a:rPr b="0" lang="en-US" sz="2480" spc="-1" strike="noStrike">
                <a:solidFill>
                  <a:srgbClr val="000000"/>
                </a:solidFill>
                <a:latin typeface="Arial"/>
                <a:ea typeface="Arial"/>
              </a:rPr>
              <a:t>which appliances are ON, and how many watts each one contributes.</a:t>
            </a:r>
            <a:endParaRPr b="0" lang="de-DE" sz="2480" spc="-1" strike="noStrike">
              <a:latin typeface="Arial"/>
            </a:endParaRPr>
          </a:p>
          <a:p>
            <a:pPr algn="just">
              <a:lnSpc>
                <a:spcPct val="100000"/>
              </a:lnSpc>
              <a:buNone/>
              <a:tabLst>
                <a:tab algn="l" pos="0"/>
              </a:tabLst>
            </a:pPr>
            <a:r>
              <a:rPr b="0" lang="en-US" sz="2480" spc="-1" strike="noStrike">
                <a:solidFill>
                  <a:srgbClr val="000000"/>
                </a:solidFill>
                <a:latin typeface="Arial"/>
                <a:ea typeface="Arial"/>
              </a:rPr>
              <a:t>Model: presence is a MultiOutputClassifier of Random Forests; power is a MultiOutputRegressor with one RF per appliance family.</a:t>
            </a:r>
            <a:endParaRPr b="0" lang="de-DE" sz="2480" spc="-1" strike="noStrike">
              <a:latin typeface="Arial"/>
            </a:endParaRPr>
          </a:p>
          <a:p>
            <a:pPr algn="just">
              <a:lnSpc>
                <a:spcPct val="100000"/>
              </a:lnSpc>
              <a:buNone/>
              <a:tabLst>
                <a:tab algn="l" pos="0"/>
              </a:tabLst>
            </a:pPr>
            <a:r>
              <a:rPr b="1" lang="en-US" sz="2480" spc="-1" strike="noStrike">
                <a:solidFill>
                  <a:srgbClr val="000000"/>
                </a:solidFill>
                <a:latin typeface="Arial"/>
                <a:ea typeface="Arial"/>
              </a:rPr>
              <a:t>Presence gates power: </a:t>
            </a:r>
            <a:r>
              <a:rPr b="0" lang="en-US" sz="2480" spc="-1" strike="noStrike">
                <a:solidFill>
                  <a:srgbClr val="000000"/>
                </a:solidFill>
                <a:latin typeface="Arial"/>
                <a:ea typeface="Arial"/>
              </a:rPr>
              <a:t>OFF forces watts to 0, so the dashboard shows plausible device power and leaves the rest as residual.</a:t>
            </a:r>
            <a:endParaRPr b="0" lang="de-DE" sz="2480" spc="-1" strike="noStrike">
              <a:latin typeface="Arial"/>
            </a:endParaRPr>
          </a:p>
          <a:p>
            <a:pPr algn="just">
              <a:lnSpc>
                <a:spcPct val="100000"/>
              </a:lnSpc>
              <a:buNone/>
              <a:tabLst>
                <a:tab algn="l" pos="0"/>
              </a:tabLst>
            </a:pPr>
            <a:r>
              <a:rPr b="0" lang="en-US" sz="2480" spc="-1" strike="noStrike">
                <a:solidFill>
                  <a:srgbClr val="000000"/>
                </a:solidFill>
                <a:latin typeface="Arial"/>
                <a:ea typeface="Arial"/>
              </a:rPr>
              <a:t>17 features: steady-state P/Q/S/PF, per-phase split, THD_I, hour-of-day, and three switching-step cues; the 5 per-order harmonic features are added only when every training source carries a real spectrum.</a:t>
            </a:r>
            <a:endParaRPr b="0" lang="de-DE" sz="2480" spc="-1" strike="noStrike">
              <a:latin typeface="Arial"/>
            </a:endParaRPr>
          </a:p>
          <a:p>
            <a:pPr algn="just">
              <a:lnSpc>
                <a:spcPct val="100000"/>
              </a:lnSpc>
              <a:buNone/>
              <a:tabLst>
                <a:tab algn="l" pos="0"/>
              </a:tabLst>
            </a:pPr>
            <a:r>
              <a:rPr b="1" lang="en-US" sz="2480" spc="-1" strike="noStrike">
                <a:solidFill>
                  <a:srgbClr val="000000"/>
                </a:solidFill>
                <a:latin typeface="Arial"/>
                <a:ea typeface="Arial"/>
              </a:rPr>
              <a:t>Why RF: </a:t>
            </a:r>
            <a:r>
              <a:rPr b="0" lang="en-US" sz="2480" spc="-1" strike="noStrike">
                <a:solidFill>
                  <a:srgbClr val="000000"/>
                </a:solidFill>
                <a:latin typeface="Arial"/>
                <a:ea typeface="Arial"/>
              </a:rPr>
              <a:t>robust on a small measured corpus, fast enough to retrain inside the teach loop, transparent enough to debug features, vocabulary and metrics.</a:t>
            </a:r>
            <a:endParaRPr b="0" lang="de-DE" sz="2480" spc="-1" strike="noStrike">
              <a:latin typeface="Arial"/>
            </a:endParaRPr>
          </a:p>
        </p:txBody>
      </p:sp>
      <p:sp>
        <p:nvSpPr>
          <p:cNvPr id="71" name="Rectangle 30"/>
          <p:cNvSpPr/>
          <p:nvPr/>
        </p:nvSpPr>
        <p:spPr>
          <a:xfrm>
            <a:off x="10725120" y="25580160"/>
            <a:ext cx="876276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450" spc="-1" strike="noStrike">
                <a:solidFill>
                  <a:srgbClr val="000000"/>
                </a:solidFill>
                <a:latin typeface="Arial"/>
                <a:ea typeface="Arial"/>
              </a:rPr>
              <a:t>Edge detection</a:t>
            </a:r>
            <a:endParaRPr b="0" lang="de-DE" sz="3450" spc="-1" strike="noStrike">
              <a:latin typeface="Arial"/>
            </a:endParaRPr>
          </a:p>
        </p:txBody>
      </p:sp>
      <p:sp>
        <p:nvSpPr>
          <p:cNvPr id="72" name="Rectangle 31"/>
          <p:cNvSpPr/>
          <p:nvPr/>
        </p:nvSpPr>
        <p:spPr>
          <a:xfrm>
            <a:off x="10771920" y="26242560"/>
            <a:ext cx="8762760" cy="43880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1" lang="en-US" sz="2470" spc="-1" strike="noStrike">
                <a:solidFill>
                  <a:srgbClr val="000000"/>
                </a:solidFill>
                <a:latin typeface="Arial"/>
                <a:ea typeface="Arial"/>
              </a:rPr>
              <a:t>Faster than the window: </a:t>
            </a:r>
            <a:r>
              <a:rPr b="0" lang="en-US" sz="2470" spc="-1" strike="noStrike">
                <a:solidFill>
                  <a:srgbClr val="000000"/>
                </a:solidFill>
                <a:latin typeface="Arial"/>
                <a:ea typeface="Arial"/>
              </a:rPr>
              <a:t>a step detector runs on raw live P/Q, catching switches before the 10 s RF window has filled.</a:t>
            </a:r>
            <a:endParaRPr b="0" lang="de-DE" sz="2470" spc="-1" strike="noStrike">
              <a:latin typeface="Arial"/>
            </a:endParaRPr>
          </a:p>
          <a:p>
            <a:pPr algn="just">
              <a:lnSpc>
                <a:spcPct val="100000"/>
              </a:lnSpc>
              <a:buNone/>
              <a:tabLst>
                <a:tab algn="l" pos="0"/>
              </a:tabLst>
            </a:pPr>
            <a:r>
              <a:rPr b="0" lang="en-US" sz="2470" spc="-1" strike="noStrike">
                <a:solidFill>
                  <a:srgbClr val="000000"/>
                </a:solidFill>
                <a:latin typeface="Arial"/>
                <a:ea typeface="Arial"/>
              </a:rPr>
              <a:t>Settled medians: it compares pre/post medians over the last 8 s, rejects noisy states, and emits dP, dQ and a millisecond timestamp.</a:t>
            </a:r>
            <a:endParaRPr b="0" lang="de-DE" sz="2470" spc="-1" strike="noStrike">
              <a:latin typeface="Arial"/>
            </a:endParaRPr>
          </a:p>
          <a:p>
            <a:pPr algn="just">
              <a:lnSpc>
                <a:spcPct val="100000"/>
              </a:lnSpc>
              <a:buNone/>
              <a:tabLst>
                <a:tab algn="l" pos="0"/>
              </a:tabLst>
            </a:pPr>
            <a:r>
              <a:rPr b="1" lang="en-US" sz="2470" spc="-1" strike="noStrike">
                <a:solidFill>
                  <a:srgbClr val="000000"/>
                </a:solidFill>
                <a:latin typeface="Arial"/>
                <a:ea typeface="Arial"/>
              </a:rPr>
              <a:t>Edges drive state: </a:t>
            </a:r>
            <a:r>
              <a:rPr b="0" lang="en-US" sz="2470" spc="-1" strike="noStrike">
                <a:solidFill>
                  <a:srgbClr val="000000"/>
                </a:solidFill>
                <a:latin typeface="Arial"/>
                <a:ea typeface="Arial"/>
              </a:rPr>
              <a:t>a matched ON edge claims the device at its own watt step; a matched OFF edge releases it, so the UI reacts immediately.</a:t>
            </a:r>
            <a:endParaRPr b="0" lang="de-DE" sz="2470" spc="-1" strike="noStrike">
              <a:latin typeface="Arial"/>
            </a:endParaRPr>
          </a:p>
          <a:p>
            <a:pPr algn="just">
              <a:lnSpc>
                <a:spcPct val="100000"/>
              </a:lnSpc>
              <a:buNone/>
              <a:tabLst>
                <a:tab algn="l" pos="0"/>
              </a:tabLst>
            </a:pPr>
            <a:r>
              <a:rPr b="1" lang="en-US" sz="2470" spc="-1" strike="noStrike">
                <a:solidFill>
                  <a:srgbClr val="000000"/>
                </a:solidFill>
                <a:latin typeface="Arial"/>
                <a:ea typeface="Arial"/>
              </a:rPr>
              <a:t>Fusion: </a:t>
            </a:r>
            <a:r>
              <a:rPr b="0" lang="en-US" sz="2470" spc="-1" strike="noStrike">
                <a:solidFill>
                  <a:srgbClr val="000000"/>
                </a:solidFill>
                <a:latin typeface="Arial"/>
                <a:ea typeface="Arial"/>
              </a:rPr>
              <a:t>RF presence probabilities are median-smoothed and passed through hysteresis (0.55 ON / 0.45 OFF); final state merges RF predictions, edge claims and residual power.</a:t>
            </a:r>
            <a:endParaRPr b="0" lang="de-DE" sz="2470" spc="-1" strike="noStrike">
              <a:latin typeface="Arial"/>
            </a:endParaRPr>
          </a:p>
        </p:txBody>
      </p:sp>
      <p:sp>
        <p:nvSpPr>
          <p:cNvPr id="73" name="Rectangle 32"/>
          <p:cNvSpPr/>
          <p:nvPr/>
        </p:nvSpPr>
        <p:spPr>
          <a:xfrm>
            <a:off x="10788480" y="30748320"/>
            <a:ext cx="876276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450" spc="-1" strike="noStrike">
                <a:solidFill>
                  <a:srgbClr val="000000"/>
                </a:solidFill>
                <a:latin typeface="Arial"/>
                <a:ea typeface="Arial"/>
              </a:rPr>
              <a:t>Training-on-the-go</a:t>
            </a:r>
            <a:endParaRPr b="0" lang="de-DE" sz="3450" spc="-1" strike="noStrike">
              <a:latin typeface="Arial"/>
            </a:endParaRPr>
          </a:p>
        </p:txBody>
      </p:sp>
      <p:sp>
        <p:nvSpPr>
          <p:cNvPr id="74" name="Rectangle 33"/>
          <p:cNvSpPr/>
          <p:nvPr/>
        </p:nvSpPr>
        <p:spPr>
          <a:xfrm>
            <a:off x="10811880" y="31386960"/>
            <a:ext cx="8762760" cy="32954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1" lang="en-US" sz="2470" spc="-1" strike="noStrike">
                <a:solidFill>
                  <a:srgbClr val="000000"/>
                </a:solidFill>
                <a:latin typeface="Arial"/>
                <a:ea typeface="Arial"/>
              </a:rPr>
              <a:t>Trigger: </a:t>
            </a:r>
            <a:r>
              <a:rPr b="0" lang="en-US" sz="2470" spc="-1" strike="noStrike">
                <a:solidFill>
                  <a:srgbClr val="000000"/>
                </a:solidFill>
                <a:latin typeface="Arial"/>
                <a:ea typeface="Arial"/>
              </a:rPr>
              <a:t>the residual monitor flags unexplained power above max(12 W, 15% of total) held for 8 s.</a:t>
            </a:r>
            <a:endParaRPr b="0" lang="de-DE" sz="2470" spc="-1" strike="noStrike">
              <a:latin typeface="Arial"/>
            </a:endParaRPr>
          </a:p>
          <a:p>
            <a:pPr algn="just">
              <a:lnSpc>
                <a:spcPct val="100000"/>
              </a:lnSpc>
              <a:buNone/>
              <a:tabLst>
                <a:tab algn="l" pos="0"/>
              </a:tabLst>
            </a:pPr>
            <a:r>
              <a:rPr b="1" lang="en-US" sz="2470" spc="-1" strike="noStrike">
                <a:solidFill>
                  <a:srgbClr val="000000"/>
                </a:solidFill>
                <a:latin typeface="Arial"/>
                <a:ea typeface="Arial"/>
              </a:rPr>
              <a:t>Capture: </a:t>
            </a:r>
            <a:r>
              <a:rPr b="0" lang="en-US" sz="2470" spc="-1" strike="noStrike">
                <a:solidFill>
                  <a:srgbClr val="000000"/>
                </a:solidFill>
                <a:latin typeface="Arial"/>
                <a:ea typeface="Arial"/>
              </a:rPr>
              <a:t>the UI asks for a device name, then records an OFF baseline, isolated ON operation, and OFF tail, giving the new label one clean signature.</a:t>
            </a:r>
            <a:endParaRPr b="0" lang="de-DE" sz="2470" spc="-1" strike="noStrike">
              <a:latin typeface="Arial"/>
            </a:endParaRPr>
          </a:p>
          <a:p>
            <a:pPr algn="just">
              <a:lnSpc>
                <a:spcPct val="100000"/>
              </a:lnSpc>
              <a:buNone/>
              <a:tabLst>
                <a:tab algn="l" pos="0"/>
              </a:tabLst>
            </a:pPr>
            <a:r>
              <a:rPr b="1" lang="en-US" sz="2470" spc="-1" strike="noStrike">
                <a:solidFill>
                  <a:srgbClr val="000000"/>
                </a:solidFill>
                <a:latin typeface="Arial"/>
                <a:ea typeface="Arial"/>
              </a:rPr>
              <a:t>Retrain and reload: </a:t>
            </a:r>
            <a:r>
              <a:rPr b="0" lang="en-US" sz="2470" spc="-1" strike="noStrike">
                <a:solidFill>
                  <a:srgbClr val="000000"/>
                </a:solidFill>
                <a:latin typeface="Arial"/>
                <a:ea typeface="Arial"/>
              </a:rPr>
              <a:t>measured scenarios are rebuilt, the mix and identify bundles retrain in the background, and the live engine hot-reloads them without a restart.</a:t>
            </a:r>
            <a:endParaRPr b="0" lang="de-DE" sz="2470" spc="-1" strike="noStrike">
              <a:latin typeface="Arial"/>
            </a:endParaRPr>
          </a:p>
        </p:txBody>
      </p:sp>
      <p:sp>
        <p:nvSpPr>
          <p:cNvPr id="75" name="Rectangle 34"/>
          <p:cNvSpPr/>
          <p:nvPr/>
        </p:nvSpPr>
        <p:spPr>
          <a:xfrm>
            <a:off x="19907280" y="5196960"/>
            <a:ext cx="8762760" cy="875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5010" spc="-1" strike="noStrike">
                <a:solidFill>
                  <a:srgbClr val="000000"/>
                </a:solidFill>
                <a:latin typeface="Arial"/>
                <a:ea typeface="Arial"/>
              </a:rPr>
              <a:t>Results and limits</a:t>
            </a:r>
            <a:endParaRPr b="0" lang="de-DE" sz="5010" spc="-1" strike="noStrike">
              <a:latin typeface="Arial"/>
            </a:endParaRPr>
          </a:p>
        </p:txBody>
      </p:sp>
      <p:sp>
        <p:nvSpPr>
          <p:cNvPr id="76" name="Straight Arrow Connector 920"/>
          <p:cNvSpPr/>
          <p:nvPr/>
        </p:nvSpPr>
        <p:spPr>
          <a:xfrm>
            <a:off x="19964520" y="6076800"/>
            <a:ext cx="8591040" cy="360"/>
          </a:xfrm>
          <a:custGeom>
            <a:avLst/>
            <a:gdLst/>
            <a:ahLst/>
            <a:rect l="l" t="t" r="r" b="b"/>
            <a:pathLst>
              <a:path w="21600" h="21600">
                <a:moveTo>
                  <a:pt x="0" y="0"/>
                </a:moveTo>
                <a:lnTo>
                  <a:pt x="21600" y="21600"/>
                </a:lnTo>
              </a:path>
            </a:pathLst>
          </a:custGeom>
          <a:noFill/>
          <a:ln w="57150">
            <a:solidFill>
              <a:srgbClr val="b82585"/>
            </a:solidFill>
            <a:round/>
          </a:ln>
        </p:spPr>
        <p:style>
          <a:lnRef idx="0"/>
          <a:fillRef idx="0"/>
          <a:effectRef idx="0"/>
          <a:fontRef idx="minor"/>
        </p:style>
      </p:sp>
      <p:sp>
        <p:nvSpPr>
          <p:cNvPr id="77" name="Rectangle 36"/>
          <p:cNvSpPr/>
          <p:nvPr/>
        </p:nvSpPr>
        <p:spPr>
          <a:xfrm>
            <a:off x="19907280" y="6572160"/>
            <a:ext cx="2714400" cy="2428560"/>
          </a:xfrm>
          <a:prstGeom prst="rect">
            <a:avLst/>
          </a:prstGeom>
          <a:solidFill>
            <a:srgbClr val="ffffff"/>
          </a:solidFill>
          <a:ln w="38100">
            <a:solidFill>
              <a:srgbClr val="b82585"/>
            </a:solidFill>
            <a:round/>
          </a:ln>
        </p:spPr>
        <p:style>
          <a:lnRef idx="0"/>
          <a:fillRef idx="0"/>
          <a:effectRef idx="0"/>
          <a:fontRef idx="minor"/>
        </p:style>
      </p:sp>
      <p:sp>
        <p:nvSpPr>
          <p:cNvPr id="78" name="Rectangle 37"/>
          <p:cNvSpPr/>
          <p:nvPr/>
        </p:nvSpPr>
        <p:spPr>
          <a:xfrm>
            <a:off x="19907280" y="6572160"/>
            <a:ext cx="209160" cy="2428560"/>
          </a:xfrm>
          <a:prstGeom prst="rect">
            <a:avLst/>
          </a:prstGeom>
          <a:solidFill>
            <a:srgbClr val="b82585"/>
          </a:solidFill>
          <a:ln w="0">
            <a:solidFill>
              <a:srgbClr val="b82585"/>
            </a:solidFill>
          </a:ln>
        </p:spPr>
        <p:style>
          <a:lnRef idx="0"/>
          <a:fillRef idx="0"/>
          <a:effectRef idx="0"/>
          <a:fontRef idx="minor"/>
        </p:style>
      </p:sp>
      <p:sp>
        <p:nvSpPr>
          <p:cNvPr id="79" name="Rectangle 38"/>
          <p:cNvSpPr/>
          <p:nvPr/>
        </p:nvSpPr>
        <p:spPr>
          <a:xfrm>
            <a:off x="20326320" y="6800760"/>
            <a:ext cx="2047680" cy="647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900" spc="-1" strike="noStrike">
                <a:solidFill>
                  <a:srgbClr val="b82585"/>
                </a:solidFill>
                <a:latin typeface="Arial"/>
                <a:ea typeface="Arial"/>
              </a:rPr>
              <a:t>0.916</a:t>
            </a:r>
            <a:endParaRPr b="0" lang="de-DE" sz="3900" spc="-1" strike="noStrike">
              <a:latin typeface="Arial"/>
            </a:endParaRPr>
          </a:p>
        </p:txBody>
      </p:sp>
      <p:sp>
        <p:nvSpPr>
          <p:cNvPr id="80" name="Rectangle 39"/>
          <p:cNvSpPr/>
          <p:nvPr/>
        </p:nvSpPr>
        <p:spPr>
          <a:xfrm>
            <a:off x="20345400" y="7505640"/>
            <a:ext cx="204768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1870" spc="-1" strike="noStrike">
                <a:solidFill>
                  <a:srgbClr val="000000"/>
                </a:solidFill>
                <a:latin typeface="Arial"/>
                <a:ea typeface="Arial"/>
              </a:rPr>
              <a:t>Mix presence</a:t>
            </a:r>
            <a:endParaRPr b="0" lang="de-DE" sz="1870" spc="-1" strike="noStrike">
              <a:latin typeface="Arial"/>
            </a:endParaRPr>
          </a:p>
          <a:p>
            <a:pPr>
              <a:lnSpc>
                <a:spcPct val="100000"/>
              </a:lnSpc>
              <a:buNone/>
              <a:tabLst>
                <a:tab algn="l" pos="0"/>
              </a:tabLst>
            </a:pPr>
            <a:r>
              <a:rPr b="1" lang="en-US" sz="1870" spc="-1" strike="noStrike">
                <a:solidFill>
                  <a:srgbClr val="000000"/>
                </a:solidFill>
                <a:latin typeface="Arial"/>
                <a:ea typeface="Arial"/>
              </a:rPr>
              <a:t>macro-F1</a:t>
            </a:r>
            <a:endParaRPr b="0" lang="de-DE" sz="1870" spc="-1" strike="noStrike">
              <a:latin typeface="Arial"/>
            </a:endParaRPr>
          </a:p>
        </p:txBody>
      </p:sp>
      <p:sp>
        <p:nvSpPr>
          <p:cNvPr id="81" name="Rectangle 40"/>
          <p:cNvSpPr/>
          <p:nvPr/>
        </p:nvSpPr>
        <p:spPr>
          <a:xfrm>
            <a:off x="20345400" y="8143920"/>
            <a:ext cx="2047680" cy="7617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500" spc="-1" strike="noStrike">
                <a:solidFill>
                  <a:srgbClr val="5a5a5a"/>
                </a:solidFill>
                <a:latin typeface="Arial"/>
                <a:ea typeface="Arial"/>
              </a:rPr>
              <a:t>1920 measured</a:t>
            </a:r>
            <a:endParaRPr b="0" lang="de-DE" sz="1500" spc="-1" strike="noStrike">
              <a:latin typeface="Arial"/>
            </a:endParaRPr>
          </a:p>
          <a:p>
            <a:pPr>
              <a:lnSpc>
                <a:spcPct val="100000"/>
              </a:lnSpc>
              <a:buNone/>
              <a:tabLst>
                <a:tab algn="l" pos="0"/>
              </a:tabLst>
            </a:pPr>
            <a:r>
              <a:rPr b="0" lang="en-US" sz="1500" spc="-1" strike="noStrike">
                <a:solidFill>
                  <a:srgbClr val="5a5a5a"/>
                </a:solidFill>
                <a:latin typeface="Arial"/>
                <a:ea typeface="Arial"/>
              </a:rPr>
              <a:t>windows</a:t>
            </a:r>
            <a:endParaRPr b="0" lang="de-DE" sz="1500" spc="-1" strike="noStrike">
              <a:latin typeface="Arial"/>
            </a:endParaRPr>
          </a:p>
          <a:p>
            <a:pPr>
              <a:lnSpc>
                <a:spcPct val="100000"/>
              </a:lnSpc>
              <a:buNone/>
              <a:tabLst>
                <a:tab algn="l" pos="0"/>
              </a:tabLst>
            </a:pPr>
            <a:r>
              <a:rPr b="0" lang="en-US" sz="1500" spc="-1" strike="noStrike">
                <a:solidFill>
                  <a:srgbClr val="5a5a5a"/>
                </a:solidFill>
                <a:latin typeface="Arial"/>
                <a:ea typeface="Arial"/>
              </a:rPr>
              <a:t>10 s, 7 families</a:t>
            </a:r>
            <a:endParaRPr b="0" lang="de-DE" sz="1500" spc="-1" strike="noStrike">
              <a:latin typeface="Arial"/>
            </a:endParaRPr>
          </a:p>
        </p:txBody>
      </p:sp>
      <p:sp>
        <p:nvSpPr>
          <p:cNvPr id="82" name="Rectangle 41"/>
          <p:cNvSpPr/>
          <p:nvPr/>
        </p:nvSpPr>
        <p:spPr>
          <a:xfrm>
            <a:off x="22907520" y="6572160"/>
            <a:ext cx="2714400" cy="2428560"/>
          </a:xfrm>
          <a:prstGeom prst="rect">
            <a:avLst/>
          </a:prstGeom>
          <a:solidFill>
            <a:srgbClr val="ffffff"/>
          </a:solidFill>
          <a:ln w="38100">
            <a:solidFill>
              <a:srgbClr val="ea5b0c"/>
            </a:solidFill>
            <a:round/>
          </a:ln>
        </p:spPr>
        <p:style>
          <a:lnRef idx="0"/>
          <a:fillRef idx="0"/>
          <a:effectRef idx="0"/>
          <a:fontRef idx="minor"/>
        </p:style>
      </p:sp>
      <p:sp>
        <p:nvSpPr>
          <p:cNvPr id="83" name="Rectangle 42"/>
          <p:cNvSpPr/>
          <p:nvPr/>
        </p:nvSpPr>
        <p:spPr>
          <a:xfrm>
            <a:off x="22907520" y="6572160"/>
            <a:ext cx="209160" cy="2428560"/>
          </a:xfrm>
          <a:prstGeom prst="rect">
            <a:avLst/>
          </a:prstGeom>
          <a:solidFill>
            <a:srgbClr val="ea5b0c"/>
          </a:solidFill>
          <a:ln w="0">
            <a:solidFill>
              <a:srgbClr val="ea5b0c"/>
            </a:solidFill>
          </a:ln>
        </p:spPr>
        <p:style>
          <a:lnRef idx="0"/>
          <a:fillRef idx="0"/>
          <a:effectRef idx="0"/>
          <a:fontRef idx="minor"/>
        </p:style>
      </p:sp>
      <p:sp>
        <p:nvSpPr>
          <p:cNvPr id="84" name="Rectangle 43"/>
          <p:cNvSpPr/>
          <p:nvPr/>
        </p:nvSpPr>
        <p:spPr>
          <a:xfrm>
            <a:off x="23326560" y="6800760"/>
            <a:ext cx="2047680" cy="647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900" spc="-1" strike="noStrike">
                <a:solidFill>
                  <a:srgbClr val="ea5b0c"/>
                </a:solidFill>
                <a:latin typeface="Arial"/>
                <a:ea typeface="Arial"/>
              </a:rPr>
              <a:t>2.9 W</a:t>
            </a:r>
            <a:endParaRPr b="0" lang="de-DE" sz="3900" spc="-1" strike="noStrike">
              <a:latin typeface="Arial"/>
            </a:endParaRPr>
          </a:p>
        </p:txBody>
      </p:sp>
      <p:sp>
        <p:nvSpPr>
          <p:cNvPr id="85" name="Rectangle 44"/>
          <p:cNvSpPr/>
          <p:nvPr/>
        </p:nvSpPr>
        <p:spPr>
          <a:xfrm>
            <a:off x="23345640" y="7505640"/>
            <a:ext cx="204768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1870" spc="-1" strike="noStrike">
                <a:solidFill>
                  <a:srgbClr val="000000"/>
                </a:solidFill>
                <a:latin typeface="Arial"/>
                <a:ea typeface="Arial"/>
              </a:rPr>
              <a:t>Gated power</a:t>
            </a:r>
            <a:endParaRPr b="0" lang="de-DE" sz="1870" spc="-1" strike="noStrike">
              <a:latin typeface="Arial"/>
            </a:endParaRPr>
          </a:p>
          <a:p>
            <a:pPr>
              <a:lnSpc>
                <a:spcPct val="100000"/>
              </a:lnSpc>
              <a:buNone/>
              <a:tabLst>
                <a:tab algn="l" pos="0"/>
              </a:tabLst>
            </a:pPr>
            <a:r>
              <a:rPr b="1" lang="en-US" sz="1870" spc="-1" strike="noStrike">
                <a:solidFill>
                  <a:srgbClr val="000000"/>
                </a:solidFill>
                <a:latin typeface="Arial"/>
                <a:ea typeface="Arial"/>
              </a:rPr>
              <a:t>MAE</a:t>
            </a:r>
            <a:endParaRPr b="0" lang="de-DE" sz="1870" spc="-1" strike="noStrike">
              <a:latin typeface="Arial"/>
            </a:endParaRPr>
          </a:p>
        </p:txBody>
      </p:sp>
      <p:sp>
        <p:nvSpPr>
          <p:cNvPr id="86" name="Rectangle 45"/>
          <p:cNvSpPr/>
          <p:nvPr/>
        </p:nvSpPr>
        <p:spPr>
          <a:xfrm>
            <a:off x="23345640" y="8143920"/>
            <a:ext cx="2047680" cy="7617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500" spc="-1" strike="noStrike">
                <a:solidFill>
                  <a:srgbClr val="5a5a5a"/>
                </a:solidFill>
                <a:latin typeface="Arial"/>
                <a:ea typeface="Arial"/>
              </a:rPr>
              <a:t>Presence-gated</a:t>
            </a:r>
            <a:endParaRPr b="0" lang="de-DE" sz="1500" spc="-1" strike="noStrike">
              <a:latin typeface="Arial"/>
            </a:endParaRPr>
          </a:p>
          <a:p>
            <a:pPr>
              <a:lnSpc>
                <a:spcPct val="100000"/>
              </a:lnSpc>
              <a:buNone/>
              <a:tabLst>
                <a:tab algn="l" pos="0"/>
              </a:tabLst>
            </a:pPr>
            <a:r>
              <a:rPr b="0" lang="en-US" sz="1500" spc="-1" strike="noStrike">
                <a:solidFill>
                  <a:srgbClr val="5a5a5a"/>
                </a:solidFill>
                <a:latin typeface="Arial"/>
                <a:ea typeface="Arial"/>
              </a:rPr>
              <a:t>watts shown in</a:t>
            </a:r>
            <a:endParaRPr b="0" lang="de-DE" sz="1500" spc="-1" strike="noStrike">
              <a:latin typeface="Arial"/>
            </a:endParaRPr>
          </a:p>
          <a:p>
            <a:pPr>
              <a:lnSpc>
                <a:spcPct val="100000"/>
              </a:lnSpc>
              <a:buNone/>
              <a:tabLst>
                <a:tab algn="l" pos="0"/>
              </a:tabLst>
            </a:pPr>
            <a:r>
              <a:rPr b="0" lang="en-US" sz="1500" spc="-1" strike="noStrike">
                <a:solidFill>
                  <a:srgbClr val="5a5a5a"/>
                </a:solidFill>
                <a:latin typeface="Arial"/>
                <a:ea typeface="Arial"/>
              </a:rPr>
              <a:t>the dashboard</a:t>
            </a:r>
            <a:endParaRPr b="0" lang="de-DE" sz="1500" spc="-1" strike="noStrike">
              <a:latin typeface="Arial"/>
            </a:endParaRPr>
          </a:p>
        </p:txBody>
      </p:sp>
      <p:sp>
        <p:nvSpPr>
          <p:cNvPr id="87" name="Rectangle 46"/>
          <p:cNvSpPr/>
          <p:nvPr/>
        </p:nvSpPr>
        <p:spPr>
          <a:xfrm>
            <a:off x="25908120" y="6572160"/>
            <a:ext cx="2714400" cy="2428560"/>
          </a:xfrm>
          <a:prstGeom prst="rect">
            <a:avLst/>
          </a:prstGeom>
          <a:solidFill>
            <a:srgbClr val="ffffff"/>
          </a:solidFill>
          <a:ln w="38100">
            <a:solidFill>
              <a:srgbClr val="c90c0f"/>
            </a:solidFill>
            <a:round/>
          </a:ln>
        </p:spPr>
        <p:style>
          <a:lnRef idx="0"/>
          <a:fillRef idx="0"/>
          <a:effectRef idx="0"/>
          <a:fontRef idx="minor"/>
        </p:style>
      </p:sp>
      <p:sp>
        <p:nvSpPr>
          <p:cNvPr id="88" name="Rectangle 47"/>
          <p:cNvSpPr/>
          <p:nvPr/>
        </p:nvSpPr>
        <p:spPr>
          <a:xfrm>
            <a:off x="25908120" y="6572160"/>
            <a:ext cx="209160" cy="2428560"/>
          </a:xfrm>
          <a:prstGeom prst="rect">
            <a:avLst/>
          </a:prstGeom>
          <a:solidFill>
            <a:srgbClr val="c90c0f"/>
          </a:solidFill>
          <a:ln w="0">
            <a:solidFill>
              <a:srgbClr val="c90c0f"/>
            </a:solidFill>
          </a:ln>
        </p:spPr>
        <p:style>
          <a:lnRef idx="0"/>
          <a:fillRef idx="0"/>
          <a:effectRef idx="0"/>
          <a:fontRef idx="minor"/>
        </p:style>
      </p:sp>
      <p:sp>
        <p:nvSpPr>
          <p:cNvPr id="89" name="Rectangle 48"/>
          <p:cNvSpPr/>
          <p:nvPr/>
        </p:nvSpPr>
        <p:spPr>
          <a:xfrm>
            <a:off x="26327160" y="6800760"/>
            <a:ext cx="2047680" cy="647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900" spc="-1" strike="noStrike">
                <a:solidFill>
                  <a:srgbClr val="c90c0f"/>
                </a:solidFill>
                <a:latin typeface="Arial"/>
                <a:ea typeface="Arial"/>
              </a:rPr>
              <a:t>0.955</a:t>
            </a:r>
            <a:endParaRPr b="0" lang="de-DE" sz="3900" spc="-1" strike="noStrike">
              <a:latin typeface="Arial"/>
            </a:endParaRPr>
          </a:p>
        </p:txBody>
      </p:sp>
      <p:sp>
        <p:nvSpPr>
          <p:cNvPr id="90" name="Rectangle 49"/>
          <p:cNvSpPr/>
          <p:nvPr/>
        </p:nvSpPr>
        <p:spPr>
          <a:xfrm>
            <a:off x="26346240" y="7505640"/>
            <a:ext cx="204768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1870" spc="-1" strike="noStrike">
                <a:solidFill>
                  <a:srgbClr val="000000"/>
                </a:solidFill>
                <a:latin typeface="Arial"/>
                <a:ea typeface="Arial"/>
              </a:rPr>
              <a:t>Identify</a:t>
            </a:r>
            <a:endParaRPr b="0" lang="de-DE" sz="1870" spc="-1" strike="noStrike">
              <a:latin typeface="Arial"/>
            </a:endParaRPr>
          </a:p>
          <a:p>
            <a:pPr>
              <a:lnSpc>
                <a:spcPct val="100000"/>
              </a:lnSpc>
              <a:buNone/>
              <a:tabLst>
                <a:tab algn="l" pos="0"/>
              </a:tabLst>
            </a:pPr>
            <a:r>
              <a:rPr b="1" lang="en-US" sz="1870" spc="-1" strike="noStrike">
                <a:solidFill>
                  <a:srgbClr val="000000"/>
                </a:solidFill>
                <a:latin typeface="Arial"/>
                <a:ea typeface="Arial"/>
              </a:rPr>
              <a:t>macro-F1</a:t>
            </a:r>
            <a:endParaRPr b="0" lang="de-DE" sz="1870" spc="-1" strike="noStrike">
              <a:latin typeface="Arial"/>
            </a:endParaRPr>
          </a:p>
        </p:txBody>
      </p:sp>
      <p:sp>
        <p:nvSpPr>
          <p:cNvPr id="91" name="Rectangle 50"/>
          <p:cNvSpPr/>
          <p:nvPr/>
        </p:nvSpPr>
        <p:spPr>
          <a:xfrm>
            <a:off x="26346240" y="8143920"/>
            <a:ext cx="2047680" cy="7617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500" spc="-1" strike="noStrike">
                <a:solidFill>
                  <a:srgbClr val="5a5a5a"/>
                </a:solidFill>
                <a:latin typeface="Arial"/>
                <a:ea typeface="Arial"/>
              </a:rPr>
              <a:t>Real active</a:t>
            </a:r>
            <a:endParaRPr b="0" lang="de-DE" sz="1500" spc="-1" strike="noStrike">
              <a:latin typeface="Arial"/>
            </a:endParaRPr>
          </a:p>
          <a:p>
            <a:pPr>
              <a:lnSpc>
                <a:spcPct val="100000"/>
              </a:lnSpc>
              <a:buNone/>
              <a:tabLst>
                <a:tab algn="l" pos="0"/>
              </a:tabLst>
            </a:pPr>
            <a:r>
              <a:rPr b="0" lang="en-US" sz="1500" spc="-1" strike="noStrike">
                <a:solidFill>
                  <a:srgbClr val="5a5a5a"/>
                </a:solidFill>
                <a:latin typeface="Arial"/>
                <a:ea typeface="Arial"/>
              </a:rPr>
              <a:t>windows</a:t>
            </a:r>
            <a:endParaRPr b="0" lang="de-DE" sz="1500" spc="-1" strike="noStrike">
              <a:latin typeface="Arial"/>
            </a:endParaRPr>
          </a:p>
          <a:p>
            <a:pPr>
              <a:lnSpc>
                <a:spcPct val="100000"/>
              </a:lnSpc>
              <a:buNone/>
              <a:tabLst>
                <a:tab algn="l" pos="0"/>
              </a:tabLst>
            </a:pPr>
            <a:r>
              <a:rPr b="0" lang="en-US" sz="1500" spc="-1" strike="noStrike">
                <a:solidFill>
                  <a:srgbClr val="5a5a5a"/>
                </a:solidFill>
                <a:latin typeface="Arial"/>
                <a:ea typeface="Arial"/>
              </a:rPr>
              <a:t>row split caveat</a:t>
            </a:r>
            <a:endParaRPr b="0" lang="de-DE" sz="1500" spc="-1" strike="noStrike">
              <a:latin typeface="Arial"/>
            </a:endParaRPr>
          </a:p>
        </p:txBody>
      </p:sp>
      <p:sp>
        <p:nvSpPr>
          <p:cNvPr id="92" name="Rectangle 52"/>
          <p:cNvSpPr/>
          <p:nvPr/>
        </p:nvSpPr>
        <p:spPr>
          <a:xfrm>
            <a:off x="19907280" y="24216480"/>
            <a:ext cx="8762760" cy="5713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430" spc="-1" strike="noStrike">
                <a:solidFill>
                  <a:srgbClr val="000000"/>
                </a:solidFill>
                <a:latin typeface="Arial"/>
                <a:ea typeface="Aptos"/>
              </a:rPr>
              <a:t>Figure 5: Live high-load dashboard from the paper; water boiler, standing lamp and table fan are split with about 99% explained power.</a:t>
            </a:r>
            <a:endParaRPr b="0" lang="de-DE" sz="1430" spc="-1" strike="noStrike">
              <a:latin typeface="Arial"/>
            </a:endParaRPr>
          </a:p>
        </p:txBody>
      </p:sp>
      <p:sp>
        <p:nvSpPr>
          <p:cNvPr id="93" name="Rectangle 53"/>
          <p:cNvSpPr/>
          <p:nvPr/>
        </p:nvSpPr>
        <p:spPr>
          <a:xfrm>
            <a:off x="19907280" y="13552200"/>
            <a:ext cx="876276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450" spc="-1" strike="noStrike">
                <a:solidFill>
                  <a:srgbClr val="000000"/>
                </a:solidFill>
                <a:latin typeface="Arial"/>
                <a:ea typeface="Arial"/>
              </a:rPr>
              <a:t>What worked</a:t>
            </a:r>
            <a:endParaRPr b="0" lang="de-DE" sz="3450" spc="-1" strike="noStrike">
              <a:latin typeface="Arial"/>
            </a:endParaRPr>
          </a:p>
        </p:txBody>
      </p:sp>
      <p:sp>
        <p:nvSpPr>
          <p:cNvPr id="94" name="Rectangle 54"/>
          <p:cNvSpPr/>
          <p:nvPr/>
        </p:nvSpPr>
        <p:spPr>
          <a:xfrm>
            <a:off x="19907280" y="14238000"/>
            <a:ext cx="8762760" cy="42858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0" lang="en-US" sz="2470" spc="-1" strike="noStrike">
                <a:solidFill>
                  <a:srgbClr val="000000"/>
                </a:solidFill>
                <a:latin typeface="Arial"/>
                <a:ea typeface="Aptos"/>
              </a:rPr>
              <a:t>End-to-end loop works: record, aggregate, train RF mix bundle, infer live, detect unknowns and retrain.</a:t>
            </a:r>
            <a:endParaRPr b="0" lang="de-DE" sz="2470" spc="-1" strike="noStrike">
              <a:latin typeface="Arial"/>
            </a:endParaRPr>
          </a:p>
          <a:p>
            <a:pPr algn="just">
              <a:lnSpc>
                <a:spcPct val="100000"/>
              </a:lnSpc>
              <a:buNone/>
              <a:tabLst>
                <a:tab algn="l" pos="0"/>
              </a:tabLst>
            </a:pPr>
            <a:r>
              <a:rPr b="0" lang="en-US" sz="2470" spc="-1" strike="noStrike">
                <a:solidFill>
                  <a:srgbClr val="000000"/>
                </a:solidFill>
                <a:latin typeface="Arial"/>
                <a:ea typeface="Aptos"/>
              </a:rPr>
              <a:t>The central technical pair is aggregator + RF mix model: the aggregator creates a physically meaningful PCC view with ground truth; the RF bundle maps 17 aggregate features to presence and watts.</a:t>
            </a:r>
            <a:endParaRPr b="0" lang="de-DE" sz="2470" spc="-1" strike="noStrike">
              <a:latin typeface="Arial"/>
            </a:endParaRPr>
          </a:p>
          <a:p>
            <a:pPr algn="just">
              <a:lnSpc>
                <a:spcPct val="100000"/>
              </a:lnSpc>
              <a:buNone/>
              <a:tabLst>
                <a:tab algn="l" pos="0"/>
              </a:tabLst>
            </a:pPr>
            <a:r>
              <a:rPr b="0" lang="en-US" sz="2470" spc="-1" strike="noStrike">
                <a:solidFill>
                  <a:srgbClr val="000000"/>
                </a:solidFill>
                <a:latin typeface="Arial"/>
                <a:ea typeface="Aptos"/>
              </a:rPr>
              <a:t>Live validation detected an unknown residual after 8 s, retrained in 26 s, then re-recognised the taught device with 0.95 confidence and 97.9% explained power.</a:t>
            </a:r>
            <a:endParaRPr b="0" lang="de-DE" sz="2470" spc="-1" strike="noStrike">
              <a:latin typeface="Arial"/>
            </a:endParaRPr>
          </a:p>
          <a:p>
            <a:pPr algn="just">
              <a:lnSpc>
                <a:spcPct val="100000"/>
              </a:lnSpc>
              <a:buNone/>
              <a:tabLst>
                <a:tab algn="l" pos="0"/>
              </a:tabLst>
            </a:pPr>
            <a:r>
              <a:rPr b="0" lang="en-US" sz="2470" spc="-1" strike="noStrike">
                <a:solidFill>
                  <a:srgbClr val="000000"/>
                </a:solidFill>
                <a:latin typeface="Arial"/>
                <a:ea typeface="Aptos"/>
              </a:rPr>
              <a:t>The high-load test split about 1.44 kW into water boiler, standing lamp and table fan with about 99% explained power.</a:t>
            </a:r>
            <a:endParaRPr b="0" lang="de-DE" sz="2470" spc="-1" strike="noStrike">
              <a:latin typeface="Arial"/>
            </a:endParaRPr>
          </a:p>
        </p:txBody>
      </p:sp>
      <p:sp>
        <p:nvSpPr>
          <p:cNvPr id="95" name="Rectangle 55"/>
          <p:cNvSpPr/>
          <p:nvPr/>
        </p:nvSpPr>
        <p:spPr>
          <a:xfrm>
            <a:off x="19907280" y="25048800"/>
            <a:ext cx="876276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450" spc="-1" strike="noStrike">
                <a:solidFill>
                  <a:srgbClr val="000000"/>
                </a:solidFill>
                <a:latin typeface="Arial"/>
                <a:ea typeface="Arial"/>
              </a:rPr>
              <a:t>What can be improved</a:t>
            </a:r>
            <a:endParaRPr b="0" lang="de-DE" sz="3450" spc="-1" strike="noStrike">
              <a:latin typeface="Arial"/>
            </a:endParaRPr>
          </a:p>
        </p:txBody>
      </p:sp>
      <p:sp>
        <p:nvSpPr>
          <p:cNvPr id="96" name="Rectangle 56"/>
          <p:cNvSpPr/>
          <p:nvPr/>
        </p:nvSpPr>
        <p:spPr>
          <a:xfrm>
            <a:off x="19907280" y="25715520"/>
            <a:ext cx="8762760" cy="528588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0" lang="en-US" sz="2470" spc="-1" strike="noStrike">
                <a:solidFill>
                  <a:srgbClr val="000000"/>
                </a:solidFill>
                <a:latin typeface="Arial"/>
                <a:ea typeface="Aptos"/>
              </a:rPr>
              <a:t>Record real PV reliably during actual generation; current PV recordings contain almost no generated power.</a:t>
            </a:r>
            <a:endParaRPr b="0" lang="de-DE" sz="2470" spc="-1" strike="noStrike">
              <a:latin typeface="Arial"/>
            </a:endParaRPr>
          </a:p>
          <a:p>
            <a:pPr algn="just">
              <a:lnSpc>
                <a:spcPct val="100000"/>
              </a:lnSpc>
              <a:buNone/>
              <a:tabLst>
                <a:tab algn="l" pos="0"/>
              </a:tabLst>
            </a:pPr>
            <a:r>
              <a:rPr b="0" lang="en-US" sz="2470" spc="-1" strike="noStrike">
                <a:solidFill>
                  <a:srgbClr val="000000"/>
                </a:solidFill>
                <a:latin typeface="Arial"/>
                <a:ea typeface="Aptos"/>
              </a:rPr>
              <a:t>Measure several sessions per device and more variants of small fans, then use grouped evaluation by session.</a:t>
            </a:r>
            <a:endParaRPr b="0" lang="de-DE" sz="2470" spc="-1" strike="noStrike">
              <a:latin typeface="Arial"/>
            </a:endParaRPr>
          </a:p>
          <a:p>
            <a:pPr algn="just">
              <a:lnSpc>
                <a:spcPct val="100000"/>
              </a:lnSpc>
              <a:buNone/>
              <a:tabLst>
                <a:tab algn="l" pos="0"/>
              </a:tabLst>
            </a:pPr>
            <a:r>
              <a:rPr b="0" lang="en-US" sz="2470" spc="-1" strike="noStrike">
                <a:solidFill>
                  <a:srgbClr val="000000"/>
                </a:solidFill>
                <a:latin typeface="Arial"/>
                <a:ea typeface="Aptos"/>
              </a:rPr>
              <a:t>Run ablations for common vs harmonic features and with/without event features; report gains only once measured.</a:t>
            </a:r>
            <a:endParaRPr b="0" lang="de-DE" sz="2470" spc="-1" strike="noStrike">
              <a:latin typeface="Arial"/>
            </a:endParaRPr>
          </a:p>
          <a:p>
            <a:pPr algn="just">
              <a:lnSpc>
                <a:spcPct val="100000"/>
              </a:lnSpc>
              <a:buNone/>
              <a:tabLst>
                <a:tab algn="l" pos="0"/>
              </a:tabLst>
            </a:pPr>
            <a:r>
              <a:rPr b="0" lang="en-US" sz="2470" spc="-1" strike="noStrike">
                <a:solidFill>
                  <a:srgbClr val="000000"/>
                </a:solidFill>
                <a:latin typeface="Arial"/>
                <a:ea typeface="Aptos"/>
              </a:rPr>
              <a:t>Try CNN/LSTM or seq2point for long appliance cycles such as washing machines.</a:t>
            </a:r>
            <a:endParaRPr b="0" lang="de-DE" sz="2470" spc="-1" strike="noStrike">
              <a:latin typeface="Arial"/>
            </a:endParaRPr>
          </a:p>
          <a:p>
            <a:pPr algn="just">
              <a:lnSpc>
                <a:spcPct val="100000"/>
              </a:lnSpc>
              <a:buNone/>
              <a:tabLst>
                <a:tab algn="l" pos="0"/>
              </a:tabLst>
            </a:pPr>
            <a:r>
              <a:rPr b="0" lang="en-US" sz="2470" spc="-1" strike="noStrike">
                <a:solidFill>
                  <a:srgbClr val="000000"/>
                </a:solidFill>
                <a:latin typeface="Arial"/>
                <a:ea typeface="Aptos"/>
              </a:rPr>
              <a:t>Validate real simultaneous multi-device physics, because measured training mixes currently loop isolated recordings with random schedules.</a:t>
            </a:r>
            <a:endParaRPr b="0" lang="de-DE" sz="2470" spc="-1" strike="noStrike">
              <a:latin typeface="Arial"/>
            </a:endParaRPr>
          </a:p>
        </p:txBody>
      </p:sp>
      <p:sp>
        <p:nvSpPr>
          <p:cNvPr id="97" name="Rectangle 57"/>
          <p:cNvSpPr/>
          <p:nvPr/>
        </p:nvSpPr>
        <p:spPr>
          <a:xfrm>
            <a:off x="19907280" y="31445280"/>
            <a:ext cx="876276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4050" spc="-1" strike="noStrike">
                <a:solidFill>
                  <a:srgbClr val="000000"/>
                </a:solidFill>
                <a:latin typeface="Arial"/>
                <a:ea typeface="Arial"/>
              </a:rPr>
              <a:t>Conclusion</a:t>
            </a:r>
            <a:endParaRPr b="0" lang="de-DE" sz="4050" spc="-1" strike="noStrike">
              <a:latin typeface="Arial"/>
            </a:endParaRPr>
          </a:p>
        </p:txBody>
      </p:sp>
      <p:sp>
        <p:nvSpPr>
          <p:cNvPr id="98" name="Straight Arrow Connector 942"/>
          <p:cNvSpPr/>
          <p:nvPr/>
        </p:nvSpPr>
        <p:spPr>
          <a:xfrm>
            <a:off x="19983600" y="32140440"/>
            <a:ext cx="8619840" cy="360"/>
          </a:xfrm>
          <a:custGeom>
            <a:avLst/>
            <a:gdLst/>
            <a:ahLst/>
            <a:rect l="l" t="t" r="r" b="b"/>
            <a:pathLst>
              <a:path w="21600" h="21600">
                <a:moveTo>
                  <a:pt x="0" y="0"/>
                </a:moveTo>
                <a:lnTo>
                  <a:pt x="21600" y="21600"/>
                </a:lnTo>
              </a:path>
            </a:pathLst>
          </a:custGeom>
          <a:noFill/>
          <a:ln w="28575">
            <a:solidFill>
              <a:srgbClr val="9e9e9e"/>
            </a:solidFill>
            <a:round/>
          </a:ln>
        </p:spPr>
        <p:style>
          <a:lnRef idx="0"/>
          <a:fillRef idx="0"/>
          <a:effectRef idx="0"/>
          <a:fontRef idx="minor"/>
        </p:style>
      </p:sp>
      <p:sp>
        <p:nvSpPr>
          <p:cNvPr id="99" name="Rectangle 59"/>
          <p:cNvSpPr/>
          <p:nvPr/>
        </p:nvSpPr>
        <p:spPr>
          <a:xfrm>
            <a:off x="19907280" y="32569200"/>
            <a:ext cx="8762760" cy="29599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0" lang="en-US" sz="2480" spc="-1" strike="noStrike">
                <a:solidFill>
                  <a:srgbClr val="000000"/>
                </a:solidFill>
                <a:latin typeface="Arial"/>
                <a:ea typeface="Aptos"/>
              </a:rPr>
              <a:t>Within its constraints the result is a complete proof of concept, not only a classifier: it records, trains, infers, explains confidence, logs events, detects the unknown and updates itself. That moves NILM from an offline score toward an operator-facing system that can be used and improved in a real laboratory.</a:t>
            </a:r>
            <a:endParaRPr b="0" lang="de-DE" sz="2480" spc="-1" strike="noStrike">
              <a:latin typeface="Arial"/>
            </a:endParaRPr>
          </a:p>
        </p:txBody>
      </p:sp>
      <p:sp>
        <p:nvSpPr>
          <p:cNvPr id="100" name="Rectangle 60"/>
          <p:cNvSpPr/>
          <p:nvPr/>
        </p:nvSpPr>
        <p:spPr>
          <a:xfrm>
            <a:off x="1428840" y="27353160"/>
            <a:ext cx="876276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450" spc="-1" strike="noStrike">
                <a:solidFill>
                  <a:srgbClr val="000000"/>
                </a:solidFill>
                <a:latin typeface="Arial"/>
                <a:ea typeface="Arial"/>
              </a:rPr>
              <a:t>Key implementations</a:t>
            </a:r>
            <a:endParaRPr b="0" lang="de-DE" sz="3450" spc="-1" strike="noStrike">
              <a:latin typeface="Arial"/>
            </a:endParaRPr>
          </a:p>
        </p:txBody>
      </p:sp>
      <p:sp>
        <p:nvSpPr>
          <p:cNvPr id="101" name="Rectangle 61"/>
          <p:cNvSpPr/>
          <p:nvPr/>
        </p:nvSpPr>
        <p:spPr>
          <a:xfrm>
            <a:off x="1451880" y="28037520"/>
            <a:ext cx="8762760" cy="70646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1" lang="en-US" sz="2480" spc="-1" strike="noStrike">
                <a:solidFill>
                  <a:srgbClr val="000000"/>
                </a:solidFill>
                <a:latin typeface="Arial"/>
                <a:ea typeface="Arial"/>
              </a:rPr>
              <a:t>Data recording: </a:t>
            </a:r>
            <a:r>
              <a:rPr b="0" lang="en-US" sz="2480" spc="-1" strike="noStrike">
                <a:solidFill>
                  <a:srgbClr val="000000"/>
                </a:solidFill>
                <a:latin typeface="Arial"/>
                <a:ea typeface="Arial"/>
              </a:rPr>
              <a:t>One persistent Modbus TCP connection, 5Hz polling, session HDF5 writer and harmonic file-record acquisition.</a:t>
            </a:r>
            <a:endParaRPr b="0" lang="de-DE" sz="2480" spc="-1" strike="noStrike">
              <a:latin typeface="Arial"/>
            </a:endParaRPr>
          </a:p>
          <a:p>
            <a:pPr algn="just">
              <a:lnSpc>
                <a:spcPct val="100000"/>
              </a:lnSpc>
              <a:buNone/>
              <a:tabLst>
                <a:tab algn="l" pos="0"/>
              </a:tabLst>
            </a:pPr>
            <a:r>
              <a:rPr b="1" lang="en-US" sz="2480" spc="-1" strike="noStrike">
                <a:solidFill>
                  <a:srgbClr val="000000"/>
                </a:solidFill>
                <a:latin typeface="Arial"/>
                <a:ea typeface="Arial"/>
              </a:rPr>
              <a:t>Data aggregation: </a:t>
            </a:r>
            <a:r>
              <a:rPr b="0" lang="en-US" sz="2480" spc="-1" strike="noStrike">
                <a:solidFill>
                  <a:srgbClr val="000000"/>
                </a:solidFill>
                <a:latin typeface="Arial"/>
                <a:ea typeface="Arial"/>
              </a:rPr>
              <a:t>Phase allocation, signed P/Q summation, synthesized voltage/frequency, complex harmonic summation and ground-truth tensors.</a:t>
            </a:r>
            <a:endParaRPr b="0" lang="de-DE" sz="2480" spc="-1" strike="noStrike">
              <a:latin typeface="Arial"/>
            </a:endParaRPr>
          </a:p>
          <a:p>
            <a:pPr algn="just">
              <a:lnSpc>
                <a:spcPct val="100000"/>
              </a:lnSpc>
              <a:buNone/>
              <a:tabLst>
                <a:tab algn="l" pos="0"/>
              </a:tabLst>
            </a:pPr>
            <a:r>
              <a:rPr b="1" lang="en-US" sz="2480" spc="-1" strike="noStrike">
                <a:solidFill>
                  <a:srgbClr val="000000"/>
                </a:solidFill>
                <a:latin typeface="Arial"/>
                <a:ea typeface="Arial"/>
              </a:rPr>
              <a:t>Scenario generation: </a:t>
            </a:r>
            <a:r>
              <a:rPr b="0" lang="en-US" sz="2480" spc="-1" strike="noStrike">
                <a:solidFill>
                  <a:srgbClr val="000000"/>
                </a:solidFill>
                <a:latin typeface="Arial"/>
                <a:ea typeface="Arial"/>
              </a:rPr>
              <a:t>Real single-device recordings looped with random ON/OFF schedules and coverage guarantees into labelled, multi-device measured scenarios.</a:t>
            </a:r>
            <a:endParaRPr b="0" lang="de-DE" sz="2480" spc="-1" strike="noStrike">
              <a:latin typeface="Arial"/>
            </a:endParaRPr>
          </a:p>
          <a:p>
            <a:pPr algn="just">
              <a:lnSpc>
                <a:spcPct val="100000"/>
              </a:lnSpc>
              <a:buNone/>
              <a:tabLst>
                <a:tab algn="l" pos="0"/>
              </a:tabLst>
            </a:pPr>
            <a:r>
              <a:rPr b="1" lang="en-US" sz="2480" spc="-1" strike="noStrike">
                <a:solidFill>
                  <a:srgbClr val="000000"/>
                </a:solidFill>
                <a:latin typeface="Arial"/>
                <a:ea typeface="Arial"/>
              </a:rPr>
              <a:t>Training: </a:t>
            </a:r>
            <a:r>
              <a:rPr b="0" lang="en-US" sz="2480" spc="-1" strike="noStrike">
                <a:solidFill>
                  <a:srgbClr val="000000"/>
                </a:solidFill>
                <a:latin typeface="Arial"/>
                <a:ea typeface="Arial"/>
              </a:rPr>
              <a:t>RF mix model on 17 steady-state, phase, harmonic and transient features over 10s windows</a:t>
            </a:r>
            <a:r>
              <a:rPr b="0" lang="en-DE" sz="2480" spc="-1" strike="noStrike">
                <a:solidFill>
                  <a:srgbClr val="000000"/>
                </a:solidFill>
                <a:latin typeface="Arial"/>
                <a:ea typeface="Arial"/>
              </a:rPr>
              <a:t>.</a:t>
            </a:r>
            <a:endParaRPr b="0" lang="de-DE" sz="2480" spc="-1" strike="noStrike">
              <a:latin typeface="Arial"/>
            </a:endParaRPr>
          </a:p>
          <a:p>
            <a:pPr algn="just">
              <a:lnSpc>
                <a:spcPct val="100000"/>
              </a:lnSpc>
              <a:buNone/>
              <a:tabLst>
                <a:tab algn="l" pos="0"/>
              </a:tabLst>
            </a:pPr>
            <a:r>
              <a:rPr b="1" lang="en-US" sz="2480" spc="-1" strike="noStrike">
                <a:solidFill>
                  <a:srgbClr val="000000"/>
                </a:solidFill>
                <a:latin typeface="Arial"/>
                <a:ea typeface="Arial"/>
              </a:rPr>
              <a:t>Live demonstration: </a:t>
            </a:r>
            <a:r>
              <a:rPr b="0" lang="en-US" sz="2480" spc="-1" strike="noStrike">
                <a:solidFill>
                  <a:srgbClr val="000000"/>
                </a:solidFill>
                <a:latin typeface="Arial"/>
                <a:ea typeface="Arial"/>
              </a:rPr>
              <a:t>Presence-gated power output, edge-claimed device states, residual monitor and teach/retrain hot reload, flagging an unknown device in 8s, retraining in 26s and recognizing it at 0.95 confidence with 97.9% power explained.</a:t>
            </a:r>
            <a:endParaRPr b="0" lang="de-DE" sz="2480" spc="-1" strike="noStrike">
              <a:latin typeface="Arial"/>
            </a:endParaRPr>
          </a:p>
        </p:txBody>
      </p:sp>
      <p:sp>
        <p:nvSpPr>
          <p:cNvPr id="102" name="Rectangle 62"/>
          <p:cNvSpPr/>
          <p:nvPr/>
        </p:nvSpPr>
        <p:spPr>
          <a:xfrm>
            <a:off x="19960560" y="9360720"/>
            <a:ext cx="876276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450" spc="-1" strike="noStrike">
                <a:solidFill>
                  <a:srgbClr val="000000"/>
                </a:solidFill>
                <a:latin typeface="Arial"/>
                <a:ea typeface="Arial"/>
              </a:rPr>
              <a:t>Evaluation protocol</a:t>
            </a:r>
            <a:endParaRPr b="0" lang="de-DE" sz="3450" spc="-1" strike="noStrike">
              <a:latin typeface="Arial"/>
            </a:endParaRPr>
          </a:p>
        </p:txBody>
      </p:sp>
      <p:sp>
        <p:nvSpPr>
          <p:cNvPr id="103" name="Rectangle 63"/>
          <p:cNvSpPr/>
          <p:nvPr/>
        </p:nvSpPr>
        <p:spPr>
          <a:xfrm>
            <a:off x="19960560" y="10046520"/>
            <a:ext cx="8762760" cy="32954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1" lang="en-US" sz="2320" spc="-1" strike="noStrike">
                <a:solidFill>
                  <a:srgbClr val="000000"/>
                </a:solidFill>
                <a:latin typeface="Arial"/>
                <a:ea typeface="Arial"/>
              </a:rPr>
              <a:t>Mix: </a:t>
            </a:r>
            <a:r>
              <a:rPr b="0" lang="en-US" sz="2320" spc="-1" strike="noStrike">
                <a:solidFill>
                  <a:srgbClr val="000000"/>
                </a:solidFill>
                <a:latin typeface="Arial"/>
                <a:ea typeface="Arial"/>
              </a:rPr>
              <a:t>1920 measured-scenario windows, 10 s each, 5 W ON threshold, seven-device vocabulary.</a:t>
            </a:r>
            <a:endParaRPr b="0" lang="de-DE" sz="2320" spc="-1" strike="noStrike">
              <a:latin typeface="Arial"/>
            </a:endParaRPr>
          </a:p>
          <a:p>
            <a:pPr algn="just">
              <a:lnSpc>
                <a:spcPct val="100000"/>
              </a:lnSpc>
              <a:buNone/>
              <a:tabLst>
                <a:tab algn="l" pos="0"/>
              </a:tabLst>
            </a:pPr>
            <a:r>
              <a:rPr b="0" lang="en-US" sz="2320" spc="-1" strike="noStrike">
                <a:solidFill>
                  <a:srgbClr val="000000"/>
                </a:solidFill>
                <a:latin typeface="Arial"/>
                <a:ea typeface="Arial"/>
              </a:rPr>
              <a:t>Metrics: presence macro-F1 for ON/OFF; gated power MAE (2.9 W) is the deployed dashboard number, raw MAE is tracked alongside.</a:t>
            </a:r>
            <a:endParaRPr b="0" lang="de-DE" sz="2320" spc="-1" strike="noStrike">
              <a:latin typeface="Arial"/>
            </a:endParaRPr>
          </a:p>
          <a:p>
            <a:pPr algn="just">
              <a:lnSpc>
                <a:spcPct val="100000"/>
              </a:lnSpc>
              <a:buNone/>
              <a:tabLst>
                <a:tab algn="l" pos="0"/>
              </a:tabLst>
            </a:pPr>
            <a:r>
              <a:rPr b="1" lang="en-US" sz="2320" spc="-1" strike="noStrike">
                <a:solidFill>
                  <a:srgbClr val="000000"/>
                </a:solidFill>
                <a:latin typeface="Arial"/>
                <a:ea typeface="Arial"/>
              </a:rPr>
              <a:t>Identify: </a:t>
            </a:r>
            <a:r>
              <a:rPr b="0" lang="en-US" sz="2320" spc="-1" strike="noStrike">
                <a:solidFill>
                  <a:srgbClr val="000000"/>
                </a:solidFill>
                <a:latin typeface="Arial"/>
                <a:ea typeface="Arial"/>
              </a:rPr>
              <a:t>171 active real-device windows with common plus harmonic features; the row split is useful but optimistic.</a:t>
            </a:r>
            <a:endParaRPr b="0" lang="de-DE" sz="2320" spc="-1" strike="noStrike">
              <a:latin typeface="Arial"/>
            </a:endParaRPr>
          </a:p>
          <a:p>
            <a:pPr algn="just">
              <a:lnSpc>
                <a:spcPct val="100000"/>
              </a:lnSpc>
              <a:buNone/>
              <a:tabLst>
                <a:tab algn="l" pos="0"/>
              </a:tabLst>
            </a:pPr>
            <a:r>
              <a:rPr b="0" lang="en-US" sz="2320" spc="-1" strike="noStrike">
                <a:solidFill>
                  <a:srgbClr val="000000"/>
                </a:solidFill>
                <a:latin typeface="Arial"/>
                <a:ea typeface="Arial"/>
              </a:rPr>
              <a:t>Remaining risk: repeated sessions and true simultaneous recordings are still needed for leakage-free validation.</a:t>
            </a:r>
            <a:endParaRPr b="0" lang="de-DE" sz="2320" spc="-1" strike="noStrike">
              <a:latin typeface="Arial"/>
            </a:endParaRPr>
          </a:p>
        </p:txBody>
      </p:sp>
      <p:sp>
        <p:nvSpPr>
          <p:cNvPr id="104" name="Rectangle 64"/>
          <p:cNvSpPr/>
          <p:nvPr/>
        </p:nvSpPr>
        <p:spPr>
          <a:xfrm>
            <a:off x="1428840" y="40207320"/>
            <a:ext cx="8762760" cy="205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i="1" lang="en-US" sz="2780" spc="-1" strike="noStrike">
                <a:solidFill>
                  <a:srgbClr val="000000"/>
                </a:solidFill>
                <a:latin typeface="Arial"/>
                <a:ea typeface="Arial"/>
              </a:rPr>
              <a:t>Sources</a:t>
            </a:r>
            <a:endParaRPr b="0" lang="de-DE" sz="2780" spc="-1" strike="noStrike">
              <a:latin typeface="Arial"/>
            </a:endParaRPr>
          </a:p>
        </p:txBody>
      </p:sp>
      <p:sp>
        <p:nvSpPr>
          <p:cNvPr id="105" name="Straight Arrow Connector 949"/>
          <p:cNvSpPr/>
          <p:nvPr/>
        </p:nvSpPr>
        <p:spPr>
          <a:xfrm>
            <a:off x="1428840" y="40874040"/>
            <a:ext cx="8762760" cy="360"/>
          </a:xfrm>
          <a:custGeom>
            <a:avLst/>
            <a:gdLst/>
            <a:ahLst/>
            <a:rect l="l" t="t" r="r" b="b"/>
            <a:pathLst>
              <a:path w="21600" h="21600">
                <a:moveTo>
                  <a:pt x="0" y="0"/>
                </a:moveTo>
                <a:lnTo>
                  <a:pt x="21600" y="21600"/>
                </a:lnTo>
              </a:path>
            </a:pathLst>
          </a:custGeom>
          <a:noFill/>
          <a:ln w="28575">
            <a:solidFill>
              <a:srgbClr val="9e9e9e"/>
            </a:solidFill>
            <a:round/>
          </a:ln>
        </p:spPr>
        <p:style>
          <a:lnRef idx="0"/>
          <a:fillRef idx="0"/>
          <a:effectRef idx="0"/>
          <a:fontRef idx="minor"/>
        </p:style>
      </p:sp>
      <p:sp>
        <p:nvSpPr>
          <p:cNvPr id="106" name="Rectangle 66"/>
          <p:cNvSpPr/>
          <p:nvPr/>
        </p:nvSpPr>
        <p:spPr>
          <a:xfrm>
            <a:off x="1400040" y="41030280"/>
            <a:ext cx="8762760" cy="957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729" spc="-1" strike="noStrike">
                <a:solidFill>
                  <a:srgbClr val="000000"/>
                </a:solidFill>
                <a:latin typeface="Aptos"/>
                <a:ea typeface="Aptos"/>
              </a:rPr>
              <a:t>Sources: project paper; Docs/01_data_format.md; Docs/09_design_rationale.md; Docs/MS3 notes; aggregator.py, nilm_pipeline.py, train.py, live.py, pac_reader.py; Hart, Reddy, Papageorgiou, Siemens PAC4200 manual.</a:t>
            </a:r>
            <a:endParaRPr b="0" lang="de-DE" sz="1729" spc="-1" strike="noStrike">
              <a:latin typeface="Arial"/>
            </a:endParaRPr>
          </a:p>
        </p:txBody>
      </p:sp>
      <p:pic>
        <p:nvPicPr>
          <p:cNvPr id="107" name="Live test high-load dashboard screenshot" descr=""/>
          <p:cNvPicPr/>
          <p:nvPr/>
        </p:nvPicPr>
        <p:blipFill>
          <a:blip r:embed="rId2"/>
          <a:srcRect l="0" t="8300" r="0" b="8300"/>
          <a:stretch/>
        </p:blipFill>
        <p:spPr>
          <a:xfrm>
            <a:off x="19907280" y="19091880"/>
            <a:ext cx="8762760" cy="4952520"/>
          </a:xfrm>
          <a:prstGeom prst="rect">
            <a:avLst/>
          </a:prstGeom>
          <a:ln w="0">
            <a:noFill/>
          </a:ln>
        </p:spPr>
      </p:pic>
      <p:pic>
        <p:nvPicPr>
          <p:cNvPr id="108" name="Picture 16" descr=""/>
          <p:cNvPicPr/>
          <p:nvPr/>
        </p:nvPicPr>
        <p:blipFill>
          <a:blip r:embed="rId3"/>
          <a:stretch/>
        </p:blipFill>
        <p:spPr>
          <a:xfrm>
            <a:off x="1284120" y="14110200"/>
            <a:ext cx="8591040" cy="4941000"/>
          </a:xfrm>
          <a:prstGeom prst="rect">
            <a:avLst/>
          </a:prstGeom>
          <a:ln w="0">
            <a:noFill/>
          </a:ln>
        </p:spPr>
      </p:pic>
      <p:sp>
        <p:nvSpPr>
          <p:cNvPr id="109" name="Rectangle 25"/>
          <p:cNvSpPr/>
          <p:nvPr/>
        </p:nvSpPr>
        <p:spPr>
          <a:xfrm>
            <a:off x="1428840" y="19645200"/>
            <a:ext cx="8762760" cy="742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430" spc="-1" strike="noStrike">
                <a:solidFill>
                  <a:srgbClr val="000000"/>
                </a:solidFill>
                <a:latin typeface="Arial"/>
                <a:ea typeface="Arial"/>
              </a:rPr>
              <a:t>Figure 1: </a:t>
            </a:r>
            <a:r>
              <a:rPr b="0" lang="en-DE" sz="1430" spc="-1" strike="noStrike">
                <a:solidFill>
                  <a:srgbClr val="000000"/>
                </a:solidFill>
                <a:latin typeface="Arial"/>
                <a:ea typeface="Arial"/>
              </a:rPr>
              <a:t>Architecture decision: synthetic appliance generation and real PAC4200 acquisition are different front ends that converge into the same scenario format. This made later ML and live processing source-agnostic instead of requiring separate code paths. </a:t>
            </a:r>
            <a:endParaRPr b="0" lang="de-DE" sz="1430" spc="-1" strike="noStrike">
              <a:latin typeface="Arial"/>
            </a:endParaRPr>
          </a:p>
        </p:txBody>
      </p:sp>
      <p:sp>
        <p:nvSpPr>
          <p:cNvPr id="110" name="Rectangle 895"/>
          <p:cNvSpPr/>
          <p:nvPr/>
        </p:nvSpPr>
        <p:spPr>
          <a:xfrm>
            <a:off x="1428840" y="20828880"/>
            <a:ext cx="8762760" cy="60883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buNone/>
              <a:tabLst>
                <a:tab algn="l" pos="0"/>
              </a:tabLst>
            </a:pPr>
            <a:r>
              <a:rPr b="0" lang="en-DE" sz="2480" spc="-1" strike="noStrike">
                <a:solidFill>
                  <a:srgbClr val="000000"/>
                </a:solidFill>
                <a:latin typeface="Arial"/>
                <a:ea typeface="Calibri"/>
              </a:rPr>
              <a:t>The core idea is source-agnostic processing: synthetic data and real PAC4200 meter recordings are collected differently, but afterward they follow the same workflow.</a:t>
            </a:r>
            <a:endParaRPr b="0" lang="de-DE" sz="2480" spc="-1" strike="noStrike">
              <a:latin typeface="Arial"/>
            </a:endParaRPr>
          </a:p>
          <a:p>
            <a:pPr algn="just">
              <a:lnSpc>
                <a:spcPct val="100000"/>
              </a:lnSpc>
              <a:buNone/>
              <a:tabLst>
                <a:tab algn="l" pos="0"/>
              </a:tabLst>
            </a:pPr>
            <a:r>
              <a:rPr b="0" lang="en-DE" sz="2480" spc="-1" strike="noStrike">
                <a:solidFill>
                  <a:srgbClr val="000000"/>
                </a:solidFill>
                <a:latin typeface="Arial"/>
                <a:ea typeface="Calibri"/>
              </a:rPr>
              <a:t>Synthetic scenarios provide controlled training data with exact measurements for each appliance. They can also model challenging conditions, such as solar generation masking electricity consumption. Real recordings capture device behavior and laboratory conditions that simulations may not reproduce accurately.</a:t>
            </a:r>
            <a:endParaRPr b="0" lang="de-DE" sz="2480" spc="-1" strike="noStrike">
              <a:latin typeface="Arial"/>
            </a:endParaRPr>
          </a:p>
          <a:p>
            <a:pPr algn="just">
              <a:lnSpc>
                <a:spcPct val="100000"/>
              </a:lnSpc>
              <a:buNone/>
              <a:tabLst>
                <a:tab algn="l" pos="0"/>
              </a:tabLst>
            </a:pPr>
            <a:endParaRPr b="0" lang="de-DE" sz="2480" spc="-1" strike="noStrike">
              <a:latin typeface="Arial"/>
            </a:endParaRPr>
          </a:p>
          <a:p>
            <a:pPr algn="just">
              <a:lnSpc>
                <a:spcPct val="100000"/>
              </a:lnSpc>
              <a:buNone/>
              <a:tabLst>
                <a:tab algn="l" pos="0"/>
              </a:tabLst>
            </a:pPr>
            <a:r>
              <a:rPr b="0" lang="en-DE" sz="2480" spc="-1" strike="noStrike">
                <a:solidFill>
                  <a:srgbClr val="000000"/>
                </a:solidFill>
                <a:latin typeface="Arial"/>
                <a:ea typeface="Calibri"/>
              </a:rPr>
              <a:t>From that point onward, they use one shared pipeline for preprocessing, aggregation, feature extraction, random-forest training, inference, and live monitoring. This unified design connects controlled simulation with a practical, deployable NILM system.</a:t>
            </a:r>
            <a:endParaRPr b="0" lang="de-DE" sz="2480" spc="-1" strike="noStrike">
              <a:latin typeface="Arial"/>
            </a:endParaRPr>
          </a:p>
        </p:txBody>
      </p:sp>
      <p:pic>
        <p:nvPicPr>
          <p:cNvPr id="111" name="Picture 897" descr=""/>
          <p:cNvPicPr/>
          <p:nvPr/>
        </p:nvPicPr>
        <p:blipFill>
          <a:blip r:embed="rId4"/>
          <a:stretch/>
        </p:blipFill>
        <p:spPr>
          <a:xfrm>
            <a:off x="1129320" y="34647840"/>
            <a:ext cx="9177840" cy="3902400"/>
          </a:xfrm>
          <a:prstGeom prst="rect">
            <a:avLst/>
          </a:prstGeom>
          <a:ln w="0">
            <a:noFill/>
          </a:ln>
        </p:spPr>
      </p:pic>
      <p:sp>
        <p:nvSpPr>
          <p:cNvPr id="112" name="Rectangle 902"/>
          <p:cNvSpPr/>
          <p:nvPr/>
        </p:nvSpPr>
        <p:spPr>
          <a:xfrm>
            <a:off x="1719360" y="38682360"/>
            <a:ext cx="8542080" cy="742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430" spc="-1" strike="noStrike">
                <a:solidFill>
                  <a:srgbClr val="000000"/>
                </a:solidFill>
                <a:latin typeface="Arial"/>
                <a:ea typeface="Arial"/>
              </a:rPr>
              <a:t>Figure 2: </a:t>
            </a:r>
            <a:r>
              <a:rPr b="0" lang="en-DE" sz="1430" spc="-1" strike="noStrike">
                <a:solidFill>
                  <a:srgbClr val="000000"/>
                </a:solidFill>
                <a:latin typeface="Arial"/>
                <a:ea typeface="Arial"/>
              </a:rPr>
              <a:t>A scenario mixed from real recordings: the stacked per-appliance ground truth sums exactly to the aggregate the model sees.</a:t>
            </a:r>
            <a:endParaRPr b="0" lang="de-DE" sz="1430" spc="-1" strike="noStrike">
              <a:latin typeface="Arial"/>
            </a:endParaRPr>
          </a:p>
          <a:p>
            <a:pPr>
              <a:lnSpc>
                <a:spcPct val="100000"/>
              </a:lnSpc>
              <a:buNone/>
              <a:tabLst>
                <a:tab algn="l" pos="0"/>
              </a:tabLst>
            </a:pPr>
            <a:endParaRPr b="0" lang="de-DE" sz="1430" spc="-1" strike="noStrike">
              <a:latin typeface="Arial"/>
            </a:endParaRPr>
          </a:p>
        </p:txBody>
      </p:sp>
      <p:sp>
        <p:nvSpPr>
          <p:cNvPr id="113" name="Rectangle 905"/>
          <p:cNvSpPr/>
          <p:nvPr/>
        </p:nvSpPr>
        <p:spPr>
          <a:xfrm>
            <a:off x="10679400" y="6537600"/>
            <a:ext cx="8762760" cy="666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US" sz="3450" spc="-1" strike="noStrike">
                <a:solidFill>
                  <a:srgbClr val="000000"/>
                </a:solidFill>
                <a:latin typeface="Arial"/>
                <a:ea typeface="Arial"/>
              </a:rPr>
              <a:t>Data aggregation</a:t>
            </a:r>
            <a:endParaRPr b="0" lang="de-DE" sz="3450" spc="-1" strike="noStrike">
              <a:latin typeface="Arial"/>
            </a:endParaRPr>
          </a:p>
        </p:txBody>
      </p:sp>
      <p:pic>
        <p:nvPicPr>
          <p:cNvPr id="114" name="Picture 908" descr=""/>
          <p:cNvPicPr/>
          <p:nvPr/>
        </p:nvPicPr>
        <p:blipFill>
          <a:blip r:embed="rId5"/>
          <a:stretch/>
        </p:blipFill>
        <p:spPr>
          <a:xfrm>
            <a:off x="10893600" y="34996680"/>
            <a:ext cx="8537040" cy="4704840"/>
          </a:xfrm>
          <a:prstGeom prst="rect">
            <a:avLst/>
          </a:prstGeom>
          <a:ln w="0">
            <a:noFill/>
          </a:ln>
        </p:spPr>
      </p:pic>
      <p:sp>
        <p:nvSpPr>
          <p:cNvPr id="115" name="Rectangle 912"/>
          <p:cNvSpPr/>
          <p:nvPr/>
        </p:nvSpPr>
        <p:spPr>
          <a:xfrm>
            <a:off x="10819080" y="40016880"/>
            <a:ext cx="8848440" cy="5713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430" spc="-1" strike="noStrike">
                <a:solidFill>
                  <a:srgbClr val="000000"/>
                </a:solidFill>
                <a:latin typeface="Arial"/>
                <a:ea typeface="Aptos"/>
              </a:rPr>
              <a:t>Figure 4: Residual gaps being recorded between detected device (colored surfaces) and total power (white line) as unknown device</a:t>
            </a:r>
            <a:endParaRPr b="0" lang="de-DE" sz="1430" spc="-1" strike="noStrike">
              <a:latin typeface="Arial"/>
            </a:endParaRPr>
          </a:p>
        </p:txBody>
      </p:sp>
      <p:sp>
        <p:nvSpPr>
          <p:cNvPr id="116" name="Rectangle 915"/>
          <p:cNvSpPr/>
          <p:nvPr/>
        </p:nvSpPr>
        <p:spPr>
          <a:xfrm>
            <a:off x="22116600" y="39774600"/>
            <a:ext cx="4738680" cy="2739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US" sz="1430" spc="-1" strike="noStrike" u="sng">
                <a:solidFill>
                  <a:srgbClr val="467886"/>
                </a:solidFill>
                <a:uFillTx/>
                <a:latin typeface="Arial"/>
                <a:ea typeface="Aptos"/>
                <a:hlinkClick r:id="rId6"/>
              </a:rPr>
              <a:t>Our up-to-date documentation of all parts of the software</a:t>
            </a:r>
            <a:endParaRPr b="0" lang="de-DE" sz="143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110</TotalTime>
  <Application>LibreOffice/7.3.6.2$Windows_X86_64 LibreOffice_project/c28ca90fd6e1a19e189fc16c05f8f8924961e12e</Application>
  <AppVersion>15.0000</AppVersion>
  <Words>1499</Words>
  <Paragraphs>95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2026-07-15T15:58:21Z</dcterms:created>
  <dc:creator>Walnut Exporter</dc:creator>
  <dc:description/>
  <dc:language>de-DE</dc:language>
  <cp:lastModifiedBy/>
  <dcterms:modified xsi:type="dcterms:W3CDTF">2026-07-15T23:43:31Z</dcterms:modified>
  <cp:revision>5</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vt:i4>
  </property>
</Properties>
</file>