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5a75b9c6274eb4" /><Relationship Type="http://schemas.openxmlformats.org/officeDocument/2006/relationships/extended-properties" Target="/docProps/app.xml" Id="R3ffd4c8093e045e8" /><Relationship Type="http://schemas.openxmlformats.org/officeDocument/2006/relationships/officeDocument" Target="/ppt/presentation.xml" Id="R4cdb45f663d0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915329be8741c8"/>
  </p:sldMasterIdLst>
  <p:notesMasterIdLst>
    <p:notesMasterId xmlns:r="http://schemas.openxmlformats.org/officeDocument/2006/relationships" r:id="R95d8f7b3e3fe4972"/>
  </p:notesMasterIdLst>
  <p:sldIdLst>
    <p:sldId xmlns:r="http://schemas.openxmlformats.org/officeDocument/2006/relationships" id="256" r:id="R4c8b73ab68264de0"/>
    <p:sldId xmlns:r="http://schemas.openxmlformats.org/officeDocument/2006/relationships" id="257" r:id="R6e800fecfed64687"/>
    <p:sldId xmlns:r="http://schemas.openxmlformats.org/officeDocument/2006/relationships" id="258" r:id="Rda721c86544a457f"/>
    <p:sldId xmlns:r="http://schemas.openxmlformats.org/officeDocument/2006/relationships" id="259" r:id="R39b2fe3f13104e51"/>
    <p:sldId xmlns:r="http://schemas.openxmlformats.org/officeDocument/2006/relationships" id="260" r:id="R5c614669c4dd4c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4c35338144855" /><Relationship Type="http://schemas.openxmlformats.org/officeDocument/2006/relationships/slideMaster" Target="/ppt/slideMasters/slideMaster1.xml" Id="Re2915329be8741c8" /><Relationship Type="http://schemas.openxmlformats.org/officeDocument/2006/relationships/notesMaster" Target="/ppt/notesMasters/notesMaster1.xml" Id="R95d8f7b3e3fe4972" /><Relationship Type="http://schemas.openxmlformats.org/officeDocument/2006/relationships/presProps" Target="/ppt/presProps.xml" Id="R29a2310621214090" /><Relationship Type="http://schemas.openxmlformats.org/officeDocument/2006/relationships/tableStyles" Target="/ppt/tableStyles.xml" Id="Re54c45c07c454a42" /><Relationship Type="http://schemas.openxmlformats.org/officeDocument/2006/relationships/slide" Target="/ppt/slides/slide1.xml" Id="R4c8b73ab68264de0" /><Relationship Type="http://schemas.openxmlformats.org/officeDocument/2006/relationships/slide" Target="/ppt/slides/slide2.xml" Id="R6e800fecfed64687" /><Relationship Type="http://schemas.openxmlformats.org/officeDocument/2006/relationships/slide" Target="/ppt/slides/slide3.xml" Id="Rda721c86544a457f" /><Relationship Type="http://schemas.openxmlformats.org/officeDocument/2006/relationships/slide" Target="/ppt/slides/slide4.xml" Id="R39b2fe3f13104e51" /><Relationship Type="http://schemas.openxmlformats.org/officeDocument/2006/relationships/slide" Target="/ppt/slides/slide5.xml" Id="R5c614669c4dd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e3bc56fb11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b7815aed14cb8" /><Relationship Type="http://schemas.openxmlformats.org/officeDocument/2006/relationships/notesMaster" Target="/ppt/notesMasters/notesMaster1.xml" Id="R576197eac97043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ca3a27c4d34247" /><Relationship Type="http://schemas.openxmlformats.org/officeDocument/2006/relationships/notesMaster" Target="/ppt/notesMasters/notesMaster1.xml" Id="R90380feacdc048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4957202c1443b5" /><Relationship Type="http://schemas.openxmlformats.org/officeDocument/2006/relationships/notesMaster" Target="/ppt/notesMasters/notesMaster1.xml" Id="R4eee2f6b436043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184b4cc8c74895" /><Relationship Type="http://schemas.openxmlformats.org/officeDocument/2006/relationships/notesMaster" Target="/ppt/notesMasters/notesMaster1.xml" Id="R80955616bac046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57e57c05a402e" /><Relationship Type="http://schemas.openxmlformats.org/officeDocument/2006/relationships/notesMaster" Target="/ppt/notesMasters/notesMaster1.xml" Id="Rf4d638fedf2847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e5c6f8c5140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bc143ff12f4b17" /><Relationship Type="http://schemas.openxmlformats.org/officeDocument/2006/relationships/slideLayout" Target="/ppt/slideLayouts/slideLayout1.xml" Id="Rc472601fe0af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72601fe0af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ac85609494f21" /><Relationship Type="http://schemas.openxmlformats.org/officeDocument/2006/relationships/notesSlide" Target="/ppt/notesSlides/notesSlide1.xml" Id="R0aac1deb65bd49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e365ddeb845b6" /><Relationship Type="http://schemas.openxmlformats.org/officeDocument/2006/relationships/notesSlide" Target="/ppt/notesSlides/notesSlide2.xml" Id="R5f53e86903df47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bb266679f4fb5" /><Relationship Type="http://schemas.openxmlformats.org/officeDocument/2006/relationships/image" Target="/ppt/media/image.png" Id="R7931ff1d0ea6454c" /><Relationship Type="http://schemas.openxmlformats.org/officeDocument/2006/relationships/notesSlide" Target="/ppt/notesSlides/notesSlide3.xml" Id="R2ac03931166a4a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9a5fa3df54b3b" /><Relationship Type="http://schemas.openxmlformats.org/officeDocument/2006/relationships/image" Target="/ppt/media/image.jpeg" Id="R683b19efacb64c76" /><Relationship Type="http://schemas.openxmlformats.org/officeDocument/2006/relationships/notesSlide" Target="/ppt/notesSlides/notesSlide4.xml" Id="R227b4744e5e147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f70001d524d56" /><Relationship Type="http://schemas.openxmlformats.org/officeDocument/2006/relationships/notesSlide" Target="/ppt/notesSlides/notesSlide5.xml" Id="R25852c96c86940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73C71-9762-4B76-A67C-21EEAFDC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Non-Intrusive Load Monitoring mit harmonischer Feature-Fusion und Live-Lernen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D8F32-571A-42D2-9690-FDA3CB78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Synthetische Ground Truth, reale PAC4200-Messungen und ein Live-System, das unbekannte Geräte nachlernen kann.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02E75-8F18-4C28-82CE-7A4E285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Soheil Ayati · Marc Steffgen · TH Köln · MSAEES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DFA15-4E84-4E6A-8DEA-ECAFB35C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4673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847A9-C4C3-4034-8897-8992E03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1CD0E-BC34-454D-975B-4E25EC2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Motivation &amp; Fragestellung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3AE0D-AC6F-43BE-989F-84EB1D61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222"/>
                </a:solidFill>
              </a:defRPr>
            </a:pPr>
            <a:r>
              <a:rPr sz="1163" b="0">
                <a:solidFill>
                  <a:srgbClr val="222222"/>
                </a:solidFill>
              </a:rPr>
              <a:t>Eine Messstelle soll Geräteaktivität erklären, obwohl sich Lasten überlagern und PV das Netto-Signal maskieren kann.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50CC5-C2CC-48E2-99DC-2EAE297C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D5400-071F-41B0-851D-D3031140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NILM ersetzt viele Unterzähler durch eine PCC-Messung.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455BC-1026-4F73-8F78-540481A6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E0534-0593-4BAA-B229-B2A0048D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Wirkleistung allein trennt ähnliche Geräte nicht zuverlässig.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2F107-EF57-4123-A86A-85795E06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ECAAF-9ED3-41E9-B821-8F16ED5A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PV wird als signed power modelliert: Verbrauch positiv, Erzeugung negativ.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94876-1372-4393-BF3D-0BE7E250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57300"/>
            <a:ext cx="54673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0CF08-585E-42CB-B4A2-C7954561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90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EC743-8F98-418A-89E4-9AB987A5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287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Methodik &amp; Datenpipeline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F5ACE-72B4-4CC6-94A5-D2851FB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222"/>
                </a:solidFill>
              </a:defRPr>
            </a:pPr>
            <a:r>
              <a:rPr sz="1163" b="0">
                <a:solidFill>
                  <a:srgbClr val="222222"/>
                </a:solidFill>
              </a:rPr>
              <a:t>Synthetische Szenarien und reale Einzelmessungen laufen in ein gemeinsames HDF5-Format und denselben ML-Codepfad.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A8A2A-C381-4031-B200-B9B46BCC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622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71E7E-4F6F-4118-A725-81427235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Synthetik liefert vollständige Ground Truth pro Gerät.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6935E-B530-491E-BE53-3D9CF46C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03EF9-95ED-4764-8CEB-2E9CE2F2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PAC4200-Aufnahmen liefern reale Labor-Signaturen.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BC4FC-9AE1-4B40-AE0E-100D69E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95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7A24B-482C-4B16-A89D-1F9F691B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86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Aggregation berücksichtigt Phasen und harmonische Vektorsummen.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2382C-7470-479E-B672-36260910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4673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CE4B8-BDEC-4F00-A44F-C89AEE32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E6EAC-927E-4AC1-A450-049196FF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Umsetzung &amp; Live-System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124D9-B82C-4469-9E2F-ECA35E8A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222"/>
                </a:solidFill>
              </a:defRPr>
            </a:pPr>
            <a:r>
              <a:rPr sz="1163" b="0">
                <a:solidFill>
                  <a:srgbClr val="222222"/>
                </a:solidFill>
              </a:rPr>
              <a:t>Das Live-System kombiniert Fenster-Vorhersagen, Schaltkanten, Confidence und Residualleistung in einer bedienbaren Oberfläche.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15E27-0BEA-479B-9861-7459CFAD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C5C881-EE9F-4D65-A6F0-BC534EDC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Mix-Modell: Präsenz + Leistungsanteile je Gerät.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822EBC-6994-437A-A492-6C3BF602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F2AA6-A2C2-4616-94E9-67509B2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Features: P/Q/S/PF, THD, Harmonische, Phasen und P/Q-Steps.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324414-F86C-471B-AB6B-6BFD7EDE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EBC59-5B21-4A05-91FF-CD471EF9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Unknown Teaching nimmt neue Geräte auf und lädt Modelle neu.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5078A6-941E-4A8F-B558-2C58C96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54673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35D1FC-817B-4AB6-8B5D-4BE35ABE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04027F-00D8-44BA-A256-289BF2AF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Ergebnisse &amp; Ausblick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F3BBEE-D2A0-40F9-9F66-CB127593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222"/>
                </a:solidFill>
              </a:defRPr>
            </a:pPr>
            <a:r>
              <a:rPr sz="1163" b="0">
                <a:solidFill>
                  <a:srgbClr val="222222"/>
                </a:solidFill>
              </a:rPr>
              <a:t>Der aktuelle Stand ist ein vollständiger Proof of Concept mit guten Scores, aber klaren Validitätsgrenzen.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89E06D-2256-4B25-BB26-8178FF65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339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F16860-2DD7-42B9-8A08-B3DB9A8C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24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Presence Macro-F1 0,916 und gated MAE 2,9 W.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D449A-A81F-4006-BF01-080750AF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00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DD0FBE-69EF-4BCC-B83C-E5412FE8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91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Teach-Retrain-Hot-Reload in 26 s im validierten Lauf.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CA52D4-74C0-4373-BCF5-DDEC44F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673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6B35"/>
                </a:solidFill>
              </a:defRPr>
            </a:pPr>
            <a:r>
              <a:rPr sz="1065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E4ED92-DF2E-4617-BD60-744C1501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57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22222"/>
                </a:solidFill>
              </a:defRPr>
            </a:pPr>
            <a:r>
              <a:rPr sz="1065" b="0">
                <a:solidFill>
                  <a:srgbClr val="222222"/>
                </a:solidFill>
              </a:rPr>
              <a:t>Nächste Schritte: reale PV, mehr Sessions, Sequenzmodelle.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F75D97-A4F3-4AA2-81DF-9FA9274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MSAEES NILM Posterentwurf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CA9313-B8F3-4FA9-9CB4-4A13A811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2912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06921-9BAA-43D7-8AA1-3C046783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Posterfenster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7F560-CBFA-45FF-BFD0-1019908E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Warum eine einzelne Messstelle schwer zu interpretieren 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549BC-BD5E-4786-A88C-AB9F279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NILM ist attraktiv, weil es keine Unterzähler braucht. Die eigentliche Schwierigkeit entsteht durch Überlagerung, ähnliche Lasten und PV-Erzeugung.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A426D-C14B-43FB-9B90-94A4B2CB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MSAEES NILM Posterentwurf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CAC88-482E-44E5-8AEC-475748CA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20CF1-F74B-495A-BAC5-45D0456C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CBF47-04C5-4DFB-BF01-8C3336D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Problemraum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01B65-0D6D-4886-B75E-25C6D70C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72EEB-2D21-4222-B05B-2D608FA1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Mehrere Geräte laufen gleichzeitig und erzeugen nur ein Summensignal.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7A13D-F5CE-49F9-9624-19F17676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40B96-E886-449D-B323-DEBCE2D9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Kleine Geräte können in P/Q sehr nah beieinanderliegen.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AF04A-1345-4306-9C1F-C84C760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BABF3-6DAA-477A-9E81-E514F8AA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PV kann Lasten verdecken oder die Nettoleistung negativ machen.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5915A-34DD-485D-9B2C-0AEA09C4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96A5E-39C2-427A-80E9-E11B8611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Der PAC4200 liefert 5-Hz-Messgrößen, aber keine Rohwellenform.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423CA-12BA-471B-8514-2498C258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267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463BC-976D-48C0-AA6A-5817F8BF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Geräte + PV + unbekannte Last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A2C67-DD65-4E44-9397-65208D0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0" cy="438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83ECF-964A-49EB-833C-8DA60DCC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2743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BBC18-B46F-47C3-8A1A-9EB3C88F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PAC4200 am PCC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9ECE3-14A4-44E8-9589-4DBB6B1F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0" cy="438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AA66A-DF4C-4986-8C81-0FB3930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312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8A2"/>
                </a:solidFill>
              </a:defRPr>
            </a:pPr>
            <a:r>
              <a:rPr sz="1800" b="1">
                <a:solidFill>
                  <a:srgbClr val="2468A2"/>
                </a:solidFill>
              </a:rPr>
              <a:t>Wer ist an?</a:t>
            </a:r>
          </a:p>
          <a:p xmlns:a="http://schemas.openxmlformats.org/drawingml/2006/main">
            <a:pPr algn="ctr">
              <a:defRPr sz="1800" b="1">
                <a:solidFill>
                  <a:srgbClr val="2468A2"/>
                </a:solidFill>
              </a:defRPr>
            </a:pPr>
            <a:r>
              <a:rPr sz="1800" b="1">
                <a:solidFill>
                  <a:srgbClr val="2468A2"/>
                </a:solidFill>
              </a:rPr>
              <a:t>Wie viel Watt?</a:t>
            </a:r>
          </a:p>
          <a:p xmlns:a="http://schemas.openxmlformats.org/drawingml/2006/main">
            <a:pPr algn="ctr">
              <a:defRPr sz="1800" b="1">
                <a:solidFill>
                  <a:srgbClr val="2468A2"/>
                </a:solidFill>
              </a:defRPr>
            </a:pPr>
            <a:r>
              <a:rPr sz="1800" b="1">
                <a:solidFill>
                  <a:srgbClr val="2468A2"/>
                </a:solidFill>
              </a:rPr>
              <a:t>Was bleibt unerklärt?</a:t>
            </a:r>
          </a:p>
        </p:txBody>
      </p:sp>
    </p:spTree>
    <p:extLst>
      <p:ext uri="{BB962C8B-B14F-4D97-AF65-F5344CB8AC3E}">
        <p14:creationId xmlns:p14="http://schemas.microsoft.com/office/powerpoint/2010/main" val="117275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7AFFE4-CB8E-4CC6-A801-6D1DCF42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Posterfenster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8CB41-766C-4902-B656-E302865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Eine gemeinsame Pipeline verbindet synthetische und reale Daten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AEFDF-38CA-4B24-8C69-93CB50BD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Die synthetische Welt liefert Labels, die reale Welt liefert Signaturen. Danach laufen beide durch dasselbe Format, dieselben Features und dieselben Modelle.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14FD4-2B86-470D-AF95-C6B6C39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MSAEES NILM Posterentwurf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E5C70-F462-48CC-9A96-55097B6D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1ff1d0ea6454c"/>
          <a:stretch xmlns:a="http://schemas.openxmlformats.org/drawingml/2006/main"/>
        </p:blipFill>
        <p:spPr>
          <a:xfrm xmlns:a="http://schemas.openxmlformats.org/drawingml/2006/main">
            <a:off x="714012" y="2266950"/>
            <a:ext cx="6458676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21652-E763-4534-BA11-23FE973E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4AA75-C435-499F-B956-AFF74309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Methodische Entscheidungen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A9FA2-552F-4936-8570-339B0C5F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52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8FE31-4862-454C-B3DD-5EF03BF9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HDF5 speichert Messwerte, Metadaten und Ground Truth zusammen.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ACE8D-26E1-42E2-9431-A2566597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33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5D626-5723-447C-A490-A51431B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PV bleibt durch signed power end-to-end modellierbar.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35872-45EF-45B0-A880-5ACD4BDF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14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4298A-C65D-4FD7-BE8F-619844DB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Stromharmonische werden als komplexe Vektoren aggregiert.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34578-FF50-43E2-BB57-817461B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95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7A79D-4AF8-4789-933A-7AEFDB69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862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Gemessene Szenario-Mixe erhalten reale Signaturen plus Ground Truth.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4CDBD-C0D4-431D-9384-C403C177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76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EE457-54E8-4716-9E78-7B498197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672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Evaluierung nutzt Macro-F1 und gated MAE des tatsächlich angezeigten Outputs.</a:t>
            </a:r>
          </a:p>
        </p:txBody>
      </p:sp>
    </p:spTree>
    <p:extLst>
      <p:ext uri="{BB962C8B-B14F-4D97-AF65-F5344CB8AC3E}">
        <p14:creationId xmlns:p14="http://schemas.microsoft.com/office/powerpoint/2010/main" val="441958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C2F137-F180-4EE4-89C7-AEDA210C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Posterfenster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491F2-0928-4D4C-B827-B8A8A7F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Das Live-System kombiniert Modell, Kanten und Residual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3BBA5-2329-423A-B137-DED65716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Random Forest bleibt bewusst der Standard: kleine Daten, interpretierbare Features und schnelles Nachtrainieren sind für den Live-Workflow wichtiger als ein schweres Modell.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0B8AA-B7EF-47BF-814C-24F180F3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MSAEES NILM Posterentwurf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FA4A6-94C0-4D08-8512-794E3447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b19efacb64c76"/>
          <a:srcRect xmlns:a="http://schemas.openxmlformats.org/drawingml/2006/main" l="0" t="9075" r="0" b="90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305050"/>
            <a:ext cx="668655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A3222-3EBD-44EF-AFBF-65641193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81250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FE2DE-FCC2-46DC-B1AC-CABB8A44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Live-Komponenten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CC873-FBAF-41D1-BDCA-4CB60684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9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CB752-459C-49AA-95B9-F9BC35AA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Sliding-window-Inferenz mit 10-s-Fenstern.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24087-9D8F-49BD-AB78-568CFF5A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53A3F-49E2-4113-BD3B-25D4791E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Mix-Modell liefert Präsenz, Watt und Confidence.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320E9-FB80-4507-8CCA-1F226E03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528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E5EE8-F934-4837-962D-A68C412D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Edge Detector erkennt P/Q-Schaltstufen mit Zeitstempel.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7F6B5-D8EC-42B9-829D-1359BB57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8B7B0-2DA8-4349-ADFB-64CB8E68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14825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Residual zeigt unerklärte Leistung statt falscher Zwangslabels.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05F97-8FC7-4413-87A3-C2D03FC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958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6B35"/>
                </a:solidFill>
              </a:defRPr>
            </a:pPr>
            <a:r>
              <a:rPr sz="1238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D2292-CEEC-455D-B992-D60F4A59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238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222"/>
                </a:solidFill>
              </a:defRPr>
            </a:pPr>
            <a:r>
              <a:rPr sz="1238" b="0">
                <a:solidFill>
                  <a:srgbClr val="222222"/>
                </a:solidFill>
              </a:rPr>
              <a:t>Guided Teaching nimmt neue Geräte isoliert auf und retrainiert.</a:t>
            </a:r>
          </a:p>
        </p:txBody>
      </p:sp>
    </p:spTree>
    <p:extLst>
      <p:ext uri="{BB962C8B-B14F-4D97-AF65-F5344CB8AC3E}">
        <p14:creationId xmlns:p14="http://schemas.microsoft.com/office/powerpoint/2010/main" val="1275731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C185A-7638-4A10-A5D7-A57003B9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Posterfenster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D67A5-43A5-4810-9BBB-7E7FF2BA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Der Stand ist präsentierbar, aber die Validierung muss breiter werden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6C382-E0C6-4776-A35B-FD29DBAB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Das Projekt ist ein vollständiger End-to-End-Proof-of-Concept: aufnehmen, trainieren, live erkennen, Residual melden und neue Geräte nachlernen.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8B7E-C504-4704-8932-281A22B3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MSAEES NILM Posterentwurf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A4806-2616-4455-B14C-23C77C03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1E2CA-0F8A-4ABC-BEC7-8AF9F870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152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12763-7CED-4767-9692-322C7FDF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68A2"/>
                </a:solidFill>
              </a:defRPr>
            </a:pPr>
            <a:r>
              <a:rPr sz="3225" b="1">
                <a:solidFill>
                  <a:srgbClr val="2468A2"/>
                </a:solidFill>
              </a:rPr>
              <a:t>0,916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B8C96-91D5-4311-8D20-97CED4C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Mix Presence Macro-F1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Gemessene Szenarien, held-out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0A13D-8F9F-43CF-BAB5-3502F6D6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2152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91BA2-4017-48C5-B894-787D1D01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E7D32"/>
                </a:solidFill>
              </a:defRPr>
            </a:pPr>
            <a:r>
              <a:rPr sz="3225" b="1">
                <a:solidFill>
                  <a:srgbClr val="2E7D32"/>
                </a:solidFill>
              </a:rPr>
              <a:t>2,9 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5636A-B93C-458B-A3C0-FF4D490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Gated Power MAE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Präsenzgesteuerte Anzeige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C9DD9-28A9-4297-BB1B-A9D7462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152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18A41-79B4-4793-92EB-768FF2E0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68A2"/>
                </a:solidFill>
              </a:defRPr>
            </a:pPr>
            <a:r>
              <a:rPr sz="3225" b="1">
                <a:solidFill>
                  <a:srgbClr val="2468A2"/>
                </a:solidFill>
              </a:rPr>
              <a:t>0,955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52B5E-F301-45D1-9B94-F01FB2F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623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Identify Macro-F1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optimistisch: row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FEFE3-3530-407F-A694-86853D2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21526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6FC79-2967-4F4F-A295-A9FC0EAD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26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93B7E-68B7-4E9F-980A-42BC83C9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Teach-Retrain-Hot-Reload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validierter Live-Lauf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45B20-0FE8-4AF5-B8FB-2042BAC6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D57E3-E003-4B62-8E8C-F733AA7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Grenzen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95CBB-3E9E-4394-8A09-25B3B78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24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B389E-91C3-4F19-8ED0-C265714A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PV wurde real noch nicht bei Einspeisung validiert.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A2278-5451-42A7-9185-CEA6A07C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0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15EE7-53C9-4454-84CE-F1DF44A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Mehr Sessions pro Gerät sind für gruppierte Evaluation nötig.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C3C20-039C-47EF-9104-C147E96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95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63E3C-CFC8-435E-A093-81C4799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8640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Lange Gerätezyklen brauchen Sequenzmodelle.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ECC915-E4B3-4087-A51D-378FF59E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AC9E2B-01FC-4072-9516-3229B746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Nächste Schritte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878E6-F1CD-49D5-B10E-70590EBB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24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2E8FA8-7923-46D7-B444-18CD6E4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Reale PV-Aufnahmen bei tatsächlicher Einspeisung.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0D20D-820A-40B5-9B98-6875C65B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01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3EAF2-53C1-4AA5-9E0C-6E086EF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006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Messkampagne mit Varianten und mehreren Aufnahmetagen.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4EC601-3C09-4D05-8B36-4C8F0B42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959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B5CE90-F2A2-41E6-85F3-FC1CE877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8640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Feature-Ablationen und CNN/LSTM bzw. Seq2Point testen.</a:t>
            </a:r>
          </a:p>
        </p:txBody>
      </p:sp>
    </p:spTree>
    <p:extLst>
      <p:ext uri="{BB962C8B-B14F-4D97-AF65-F5344CB8AC3E}">
        <p14:creationId xmlns:p14="http://schemas.microsoft.com/office/powerpoint/2010/main" val="83724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2026-07-13T12:25:44.2680000Z</dcterms:created>
  <dcterms:modified xsi:type="dcterms:W3CDTF">2026-07-13T12:25:44.2680000Z</dcterms:modified>
</coreProperties>
</file>